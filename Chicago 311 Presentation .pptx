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12192000" cy="6858000"/>
  <p:embeddedFontLst>
    <p:embeddedFont>
      <p:font typeface="Tahoma"/>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0" roundtripDataSignature="AMtx7mhqByvEkBrfiqU9oem8xeNIEfmT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1971AF-395C-42FA-B1C8-179F3ABD0C67}">
  <a:tblStyle styleId="{E01971AF-395C-42FA-B1C8-179F3ABD0C6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Tahoma-bold.fntdata"/><Relationship Id="rId6" Type="http://schemas.openxmlformats.org/officeDocument/2006/relationships/notesMaster" Target="notesMasters/notesMaster1.xml"/><Relationship Id="rId18" Type="http://schemas.openxmlformats.org/officeDocument/2006/relationships/font" Target="fonts/Tahoma-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3"/>
          <p:cNvSpPr txBox="1"/>
          <p:nvPr>
            <p:ph type="title"/>
          </p:nvPr>
        </p:nvSpPr>
        <p:spPr>
          <a:xfrm>
            <a:off x="2611541" y="511515"/>
            <a:ext cx="8990965" cy="3543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95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3"/>
          <p:cNvSpPr txBox="1"/>
          <p:nvPr>
            <p:ph idx="1" type="body"/>
          </p:nvPr>
        </p:nvSpPr>
        <p:spPr>
          <a:xfrm>
            <a:off x="2729864" y="2080259"/>
            <a:ext cx="7783195" cy="22840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25" name="Shape 25"/>
        <p:cNvGrpSpPr/>
        <p:nvPr/>
      </p:nvGrpSpPr>
      <p:grpSpPr>
        <a:xfrm>
          <a:off x="0" y="0"/>
          <a:ext cx="0" cy="0"/>
          <a:chOff x="0" y="0"/>
          <a:chExt cx="0" cy="0"/>
        </a:xfrm>
      </p:grpSpPr>
      <p:sp>
        <p:nvSpPr>
          <p:cNvPr id="26" name="Google Shape;26;p14"/>
          <p:cNvSpPr/>
          <p:nvPr/>
        </p:nvSpPr>
        <p:spPr>
          <a:xfrm>
            <a:off x="0" y="5788373"/>
            <a:ext cx="12192000" cy="1069975"/>
          </a:xfrm>
          <a:custGeom>
            <a:rect b="b" l="l" r="r" t="t"/>
            <a:pathLst>
              <a:path extrusionOk="0" h="1069975" w="12192000">
                <a:moveTo>
                  <a:pt x="0" y="1069626"/>
                </a:moveTo>
                <a:lnTo>
                  <a:pt x="12192000" y="1069626"/>
                </a:lnTo>
                <a:lnTo>
                  <a:pt x="12192000" y="0"/>
                </a:lnTo>
                <a:lnTo>
                  <a:pt x="0" y="0"/>
                </a:lnTo>
                <a:lnTo>
                  <a:pt x="0" y="1069626"/>
                </a:lnTo>
                <a:close/>
              </a:path>
            </a:pathLst>
          </a:custGeom>
          <a:solidFill>
            <a:srgbClr val="45454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 name="Google Shape;27;p14"/>
          <p:cNvSpPr/>
          <p:nvPr/>
        </p:nvSpPr>
        <p:spPr>
          <a:xfrm>
            <a:off x="10247312" y="5013325"/>
            <a:ext cx="1919605" cy="1830705"/>
          </a:xfrm>
          <a:custGeom>
            <a:rect b="b" l="l" r="r" t="t"/>
            <a:pathLst>
              <a:path extrusionOk="0" h="1830704" w="1919604">
                <a:moveTo>
                  <a:pt x="0" y="1830388"/>
                </a:moveTo>
                <a:lnTo>
                  <a:pt x="39978" y="1799304"/>
                </a:lnTo>
                <a:lnTo>
                  <a:pt x="79880" y="1768042"/>
                </a:lnTo>
                <a:lnTo>
                  <a:pt x="119702" y="1736603"/>
                </a:lnTo>
                <a:lnTo>
                  <a:pt x="159444" y="1704987"/>
                </a:lnTo>
                <a:lnTo>
                  <a:pt x="199100" y="1673196"/>
                </a:lnTo>
                <a:lnTo>
                  <a:pt x="238670" y="1641231"/>
                </a:lnTo>
                <a:lnTo>
                  <a:pt x="278150" y="1609093"/>
                </a:lnTo>
                <a:lnTo>
                  <a:pt x="317538" y="1576782"/>
                </a:lnTo>
                <a:lnTo>
                  <a:pt x="356831" y="1544301"/>
                </a:lnTo>
                <a:lnTo>
                  <a:pt x="396027" y="1511649"/>
                </a:lnTo>
                <a:lnTo>
                  <a:pt x="435122" y="1478827"/>
                </a:lnTo>
                <a:lnTo>
                  <a:pt x="474115" y="1445838"/>
                </a:lnTo>
                <a:lnTo>
                  <a:pt x="513002" y="1412682"/>
                </a:lnTo>
                <a:lnTo>
                  <a:pt x="551781" y="1379359"/>
                </a:lnTo>
                <a:lnTo>
                  <a:pt x="590450" y="1345871"/>
                </a:lnTo>
                <a:lnTo>
                  <a:pt x="629005" y="1312219"/>
                </a:lnTo>
                <a:lnTo>
                  <a:pt x="667444" y="1278404"/>
                </a:lnTo>
                <a:lnTo>
                  <a:pt x="705765" y="1244427"/>
                </a:lnTo>
                <a:lnTo>
                  <a:pt x="743964" y="1210289"/>
                </a:lnTo>
                <a:lnTo>
                  <a:pt x="782040" y="1175990"/>
                </a:lnTo>
                <a:lnTo>
                  <a:pt x="819989" y="1141533"/>
                </a:lnTo>
                <a:lnTo>
                  <a:pt x="857809" y="1106918"/>
                </a:lnTo>
                <a:lnTo>
                  <a:pt x="895497" y="1072145"/>
                </a:lnTo>
                <a:lnTo>
                  <a:pt x="933051" y="1037217"/>
                </a:lnTo>
                <a:lnTo>
                  <a:pt x="970467" y="1002133"/>
                </a:lnTo>
                <a:lnTo>
                  <a:pt x="1007744" y="966896"/>
                </a:lnTo>
                <a:lnTo>
                  <a:pt x="1044879" y="931506"/>
                </a:lnTo>
                <a:lnTo>
                  <a:pt x="1081869" y="895963"/>
                </a:lnTo>
                <a:lnTo>
                  <a:pt x="1118711" y="860270"/>
                </a:lnTo>
                <a:lnTo>
                  <a:pt x="1155403" y="824427"/>
                </a:lnTo>
                <a:lnTo>
                  <a:pt x="1191942" y="788435"/>
                </a:lnTo>
                <a:lnTo>
                  <a:pt x="1228326" y="752295"/>
                </a:lnTo>
                <a:lnTo>
                  <a:pt x="1264551" y="716008"/>
                </a:lnTo>
                <a:lnTo>
                  <a:pt x="1300616" y="679575"/>
                </a:lnTo>
                <a:lnTo>
                  <a:pt x="1336517" y="642998"/>
                </a:lnTo>
                <a:lnTo>
                  <a:pt x="1372253" y="606276"/>
                </a:lnTo>
                <a:lnTo>
                  <a:pt x="1407819" y="569412"/>
                </a:lnTo>
                <a:lnTo>
                  <a:pt x="1443215" y="532406"/>
                </a:lnTo>
                <a:lnTo>
                  <a:pt x="1478436" y="495259"/>
                </a:lnTo>
                <a:lnTo>
                  <a:pt x="1513481" y="457972"/>
                </a:lnTo>
                <a:lnTo>
                  <a:pt x="1548347" y="420547"/>
                </a:lnTo>
                <a:lnTo>
                  <a:pt x="1583030" y="382984"/>
                </a:lnTo>
                <a:lnTo>
                  <a:pt x="1617530" y="345284"/>
                </a:lnTo>
                <a:lnTo>
                  <a:pt x="1651842" y="307448"/>
                </a:lnTo>
                <a:lnTo>
                  <a:pt x="1685964" y="269478"/>
                </a:lnTo>
                <a:lnTo>
                  <a:pt x="1719895" y="231374"/>
                </a:lnTo>
                <a:lnTo>
                  <a:pt x="1753630" y="193138"/>
                </a:lnTo>
                <a:lnTo>
                  <a:pt x="1787167" y="154769"/>
                </a:lnTo>
                <a:lnTo>
                  <a:pt x="1820504" y="116270"/>
                </a:lnTo>
                <a:lnTo>
                  <a:pt x="1853638" y="77642"/>
                </a:lnTo>
                <a:lnTo>
                  <a:pt x="1886567" y="38884"/>
                </a:lnTo>
                <a:lnTo>
                  <a:pt x="1919288"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 name="Google Shape;28;p14"/>
          <p:cNvSpPr/>
          <p:nvPr/>
        </p:nvSpPr>
        <p:spPr>
          <a:xfrm>
            <a:off x="10494962" y="5275262"/>
            <a:ext cx="1666875" cy="1577975"/>
          </a:xfrm>
          <a:custGeom>
            <a:rect b="b" l="l" r="r" t="t"/>
            <a:pathLst>
              <a:path extrusionOk="0" h="1577975" w="1666875">
                <a:moveTo>
                  <a:pt x="0" y="1577975"/>
                </a:moveTo>
                <a:lnTo>
                  <a:pt x="39538" y="1546211"/>
                </a:lnTo>
                <a:lnTo>
                  <a:pt x="79004" y="1514293"/>
                </a:lnTo>
                <a:lnTo>
                  <a:pt x="118394" y="1482220"/>
                </a:lnTo>
                <a:lnTo>
                  <a:pt x="157704" y="1449994"/>
                </a:lnTo>
                <a:lnTo>
                  <a:pt x="196934" y="1417613"/>
                </a:lnTo>
                <a:lnTo>
                  <a:pt x="236078" y="1385080"/>
                </a:lnTo>
                <a:lnTo>
                  <a:pt x="275136" y="1352393"/>
                </a:lnTo>
                <a:lnTo>
                  <a:pt x="314103" y="1319554"/>
                </a:lnTo>
                <a:lnTo>
                  <a:pt x="352978" y="1286562"/>
                </a:lnTo>
                <a:lnTo>
                  <a:pt x="391757" y="1253419"/>
                </a:lnTo>
                <a:lnTo>
                  <a:pt x="430437" y="1220123"/>
                </a:lnTo>
                <a:lnTo>
                  <a:pt x="469017" y="1186676"/>
                </a:lnTo>
                <a:lnTo>
                  <a:pt x="507492" y="1153078"/>
                </a:lnTo>
                <a:lnTo>
                  <a:pt x="545860" y="1119329"/>
                </a:lnTo>
                <a:lnTo>
                  <a:pt x="584118" y="1085429"/>
                </a:lnTo>
                <a:lnTo>
                  <a:pt x="622264" y="1051380"/>
                </a:lnTo>
                <a:lnTo>
                  <a:pt x="660294" y="1017180"/>
                </a:lnTo>
                <a:lnTo>
                  <a:pt x="698206" y="982831"/>
                </a:lnTo>
                <a:lnTo>
                  <a:pt x="735998" y="948332"/>
                </a:lnTo>
                <a:lnTo>
                  <a:pt x="773665" y="913685"/>
                </a:lnTo>
                <a:lnTo>
                  <a:pt x="811206" y="878889"/>
                </a:lnTo>
                <a:lnTo>
                  <a:pt x="848617" y="843944"/>
                </a:lnTo>
                <a:lnTo>
                  <a:pt x="885896" y="808852"/>
                </a:lnTo>
                <a:lnTo>
                  <a:pt x="923040" y="773611"/>
                </a:lnTo>
                <a:lnTo>
                  <a:pt x="960046" y="738224"/>
                </a:lnTo>
                <a:lnTo>
                  <a:pt x="996911" y="702689"/>
                </a:lnTo>
                <a:lnTo>
                  <a:pt x="1033633" y="667008"/>
                </a:lnTo>
                <a:lnTo>
                  <a:pt x="1070208" y="631180"/>
                </a:lnTo>
                <a:lnTo>
                  <a:pt x="1106635" y="595206"/>
                </a:lnTo>
                <a:lnTo>
                  <a:pt x="1142909" y="559086"/>
                </a:lnTo>
                <a:lnTo>
                  <a:pt x="1179028" y="522820"/>
                </a:lnTo>
                <a:lnTo>
                  <a:pt x="1214990" y="486410"/>
                </a:lnTo>
                <a:lnTo>
                  <a:pt x="1250792" y="449854"/>
                </a:lnTo>
                <a:lnTo>
                  <a:pt x="1286430" y="413154"/>
                </a:lnTo>
                <a:lnTo>
                  <a:pt x="1321903" y="376310"/>
                </a:lnTo>
                <a:lnTo>
                  <a:pt x="1357206" y="339321"/>
                </a:lnTo>
                <a:lnTo>
                  <a:pt x="1392338" y="302189"/>
                </a:lnTo>
                <a:lnTo>
                  <a:pt x="1427295" y="264914"/>
                </a:lnTo>
                <a:lnTo>
                  <a:pt x="1462075" y="227495"/>
                </a:lnTo>
                <a:lnTo>
                  <a:pt x="1496675" y="189934"/>
                </a:lnTo>
                <a:lnTo>
                  <a:pt x="1531092" y="152231"/>
                </a:lnTo>
                <a:lnTo>
                  <a:pt x="1565323" y="114385"/>
                </a:lnTo>
                <a:lnTo>
                  <a:pt x="1599366" y="76398"/>
                </a:lnTo>
                <a:lnTo>
                  <a:pt x="1633217" y="38269"/>
                </a:lnTo>
                <a:lnTo>
                  <a:pt x="1666875"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 name="Google Shape;29;p14"/>
          <p:cNvSpPr/>
          <p:nvPr/>
        </p:nvSpPr>
        <p:spPr>
          <a:xfrm>
            <a:off x="10641012" y="5408612"/>
            <a:ext cx="1525905" cy="1435100"/>
          </a:xfrm>
          <a:custGeom>
            <a:rect b="b" l="l" r="r" t="t"/>
            <a:pathLst>
              <a:path extrusionOk="0" h="1435100" w="1525904">
                <a:moveTo>
                  <a:pt x="0" y="1435100"/>
                </a:moveTo>
                <a:lnTo>
                  <a:pt x="39600" y="1403034"/>
                </a:lnTo>
                <a:lnTo>
                  <a:pt x="79114" y="1370817"/>
                </a:lnTo>
                <a:lnTo>
                  <a:pt x="118538" y="1338447"/>
                </a:lnTo>
                <a:lnTo>
                  <a:pt x="157869" y="1305927"/>
                </a:lnTo>
                <a:lnTo>
                  <a:pt x="197106" y="1273255"/>
                </a:lnTo>
                <a:lnTo>
                  <a:pt x="236246" y="1240433"/>
                </a:lnTo>
                <a:lnTo>
                  <a:pt x="275286" y="1207460"/>
                </a:lnTo>
                <a:lnTo>
                  <a:pt x="314223" y="1174338"/>
                </a:lnTo>
                <a:lnTo>
                  <a:pt x="353056" y="1141067"/>
                </a:lnTo>
                <a:lnTo>
                  <a:pt x="391782" y="1107646"/>
                </a:lnTo>
                <a:lnTo>
                  <a:pt x="430398" y="1074077"/>
                </a:lnTo>
                <a:lnTo>
                  <a:pt x="468902" y="1040360"/>
                </a:lnTo>
                <a:lnTo>
                  <a:pt x="507292" y="1006495"/>
                </a:lnTo>
                <a:lnTo>
                  <a:pt x="545564" y="972483"/>
                </a:lnTo>
                <a:lnTo>
                  <a:pt x="583717" y="938324"/>
                </a:lnTo>
                <a:lnTo>
                  <a:pt x="621748" y="904019"/>
                </a:lnTo>
                <a:lnTo>
                  <a:pt x="659654" y="869567"/>
                </a:lnTo>
                <a:lnTo>
                  <a:pt x="697433" y="834970"/>
                </a:lnTo>
                <a:lnTo>
                  <a:pt x="735083" y="800228"/>
                </a:lnTo>
                <a:lnTo>
                  <a:pt x="772601" y="765341"/>
                </a:lnTo>
                <a:lnTo>
                  <a:pt x="809984" y="730310"/>
                </a:lnTo>
                <a:lnTo>
                  <a:pt x="847230" y="695134"/>
                </a:lnTo>
                <a:lnTo>
                  <a:pt x="884337" y="659815"/>
                </a:lnTo>
                <a:lnTo>
                  <a:pt x="921302" y="624353"/>
                </a:lnTo>
                <a:lnTo>
                  <a:pt x="958122" y="588749"/>
                </a:lnTo>
                <a:lnTo>
                  <a:pt x="994796" y="553002"/>
                </a:lnTo>
                <a:lnTo>
                  <a:pt x="1031320" y="517113"/>
                </a:lnTo>
                <a:lnTo>
                  <a:pt x="1067693" y="481082"/>
                </a:lnTo>
                <a:lnTo>
                  <a:pt x="1103911" y="444911"/>
                </a:lnTo>
                <a:lnTo>
                  <a:pt x="1139972" y="408598"/>
                </a:lnTo>
                <a:lnTo>
                  <a:pt x="1175874" y="372146"/>
                </a:lnTo>
                <a:lnTo>
                  <a:pt x="1211615" y="335554"/>
                </a:lnTo>
                <a:lnTo>
                  <a:pt x="1247191" y="298822"/>
                </a:lnTo>
                <a:lnTo>
                  <a:pt x="1282600" y="261951"/>
                </a:lnTo>
                <a:lnTo>
                  <a:pt x="1317840" y="224942"/>
                </a:lnTo>
                <a:lnTo>
                  <a:pt x="1352908" y="187795"/>
                </a:lnTo>
                <a:lnTo>
                  <a:pt x="1387802" y="150510"/>
                </a:lnTo>
                <a:lnTo>
                  <a:pt x="1422520" y="113087"/>
                </a:lnTo>
                <a:lnTo>
                  <a:pt x="1457058" y="75528"/>
                </a:lnTo>
                <a:lnTo>
                  <a:pt x="1491415" y="37832"/>
                </a:lnTo>
                <a:lnTo>
                  <a:pt x="1525588"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0" name="Google Shape;30;p14"/>
          <p:cNvPicPr preferRelativeResize="0"/>
          <p:nvPr/>
        </p:nvPicPr>
        <p:blipFill rotWithShape="1">
          <a:blip r:embed="rId2">
            <a:alphaModFix/>
          </a:blip>
          <a:srcRect b="0" l="0" r="0" t="0"/>
          <a:stretch/>
        </p:blipFill>
        <p:spPr>
          <a:xfrm>
            <a:off x="0" y="-6350"/>
            <a:ext cx="5173662" cy="6856413"/>
          </a:xfrm>
          <a:prstGeom prst="rect">
            <a:avLst/>
          </a:prstGeom>
          <a:noFill/>
          <a:ln>
            <a:noFill/>
          </a:ln>
        </p:spPr>
      </p:pic>
      <p:sp>
        <p:nvSpPr>
          <p:cNvPr id="31" name="Google Shape;31;p14"/>
          <p:cNvSpPr/>
          <p:nvPr/>
        </p:nvSpPr>
        <p:spPr>
          <a:xfrm>
            <a:off x="10802937" y="5518150"/>
            <a:ext cx="1363980" cy="1325880"/>
          </a:xfrm>
          <a:custGeom>
            <a:rect b="b" l="l" r="r" t="t"/>
            <a:pathLst>
              <a:path extrusionOk="0" h="1325879" w="1363979">
                <a:moveTo>
                  <a:pt x="0" y="1325563"/>
                </a:moveTo>
                <a:lnTo>
                  <a:pt x="38868" y="1292360"/>
                </a:lnTo>
                <a:lnTo>
                  <a:pt x="77651" y="1259012"/>
                </a:lnTo>
                <a:lnTo>
                  <a:pt x="116346" y="1225518"/>
                </a:lnTo>
                <a:lnTo>
                  <a:pt x="154951" y="1191879"/>
                </a:lnTo>
                <a:lnTo>
                  <a:pt x="193464" y="1158093"/>
                </a:lnTo>
                <a:lnTo>
                  <a:pt x="231882" y="1124162"/>
                </a:lnTo>
                <a:lnTo>
                  <a:pt x="270203" y="1090085"/>
                </a:lnTo>
                <a:lnTo>
                  <a:pt x="308425" y="1055863"/>
                </a:lnTo>
                <a:lnTo>
                  <a:pt x="346546" y="1021494"/>
                </a:lnTo>
                <a:lnTo>
                  <a:pt x="384564" y="986980"/>
                </a:lnTo>
                <a:lnTo>
                  <a:pt x="422475" y="952320"/>
                </a:lnTo>
                <a:lnTo>
                  <a:pt x="460279" y="917514"/>
                </a:lnTo>
                <a:lnTo>
                  <a:pt x="497972" y="882563"/>
                </a:lnTo>
                <a:lnTo>
                  <a:pt x="535553" y="847466"/>
                </a:lnTo>
                <a:lnTo>
                  <a:pt x="573019" y="812223"/>
                </a:lnTo>
                <a:lnTo>
                  <a:pt x="610367" y="776834"/>
                </a:lnTo>
                <a:lnTo>
                  <a:pt x="647597" y="741299"/>
                </a:lnTo>
                <a:lnTo>
                  <a:pt x="684705" y="705619"/>
                </a:lnTo>
                <a:lnTo>
                  <a:pt x="721689" y="669793"/>
                </a:lnTo>
                <a:lnTo>
                  <a:pt x="758547" y="633821"/>
                </a:lnTo>
                <a:lnTo>
                  <a:pt x="795277" y="597704"/>
                </a:lnTo>
                <a:lnTo>
                  <a:pt x="831876" y="561441"/>
                </a:lnTo>
                <a:lnTo>
                  <a:pt x="868342" y="525031"/>
                </a:lnTo>
                <a:lnTo>
                  <a:pt x="904673" y="488477"/>
                </a:lnTo>
                <a:lnTo>
                  <a:pt x="940867" y="451776"/>
                </a:lnTo>
                <a:lnTo>
                  <a:pt x="976921" y="414930"/>
                </a:lnTo>
                <a:lnTo>
                  <a:pt x="1012834" y="377938"/>
                </a:lnTo>
                <a:lnTo>
                  <a:pt x="1048602" y="340800"/>
                </a:lnTo>
                <a:lnTo>
                  <a:pt x="1084224" y="303516"/>
                </a:lnTo>
                <a:lnTo>
                  <a:pt x="1119698" y="266087"/>
                </a:lnTo>
                <a:lnTo>
                  <a:pt x="1155020" y="228511"/>
                </a:lnTo>
                <a:lnTo>
                  <a:pt x="1190190" y="190791"/>
                </a:lnTo>
                <a:lnTo>
                  <a:pt x="1225204" y="152924"/>
                </a:lnTo>
                <a:lnTo>
                  <a:pt x="1260061" y="114911"/>
                </a:lnTo>
                <a:lnTo>
                  <a:pt x="1294758" y="76753"/>
                </a:lnTo>
                <a:lnTo>
                  <a:pt x="1329292" y="38449"/>
                </a:lnTo>
                <a:lnTo>
                  <a:pt x="1363663"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 name="Google Shape;32;p14"/>
          <p:cNvSpPr/>
          <p:nvPr/>
        </p:nvSpPr>
        <p:spPr>
          <a:xfrm>
            <a:off x="10979150" y="5694362"/>
            <a:ext cx="1187450" cy="1149350"/>
          </a:xfrm>
          <a:custGeom>
            <a:rect b="b" l="l" r="r" t="t"/>
            <a:pathLst>
              <a:path extrusionOk="0" h="1149350" w="1187450">
                <a:moveTo>
                  <a:pt x="0" y="1149350"/>
                </a:moveTo>
                <a:lnTo>
                  <a:pt x="37945" y="1116470"/>
                </a:lnTo>
                <a:lnTo>
                  <a:pt x="75785" y="1083461"/>
                </a:lnTo>
                <a:lnTo>
                  <a:pt x="113517" y="1050323"/>
                </a:lnTo>
                <a:lnTo>
                  <a:pt x="151139" y="1017056"/>
                </a:lnTo>
                <a:lnTo>
                  <a:pt x="188650" y="983661"/>
                </a:lnTo>
                <a:lnTo>
                  <a:pt x="226049" y="950140"/>
                </a:lnTo>
                <a:lnTo>
                  <a:pt x="263333" y="916492"/>
                </a:lnTo>
                <a:lnTo>
                  <a:pt x="300502" y="882719"/>
                </a:lnTo>
                <a:lnTo>
                  <a:pt x="337553" y="848822"/>
                </a:lnTo>
                <a:lnTo>
                  <a:pt x="374485" y="814801"/>
                </a:lnTo>
                <a:lnTo>
                  <a:pt x="411297" y="780657"/>
                </a:lnTo>
                <a:lnTo>
                  <a:pt x="447987" y="746391"/>
                </a:lnTo>
                <a:lnTo>
                  <a:pt x="484553" y="712003"/>
                </a:lnTo>
                <a:lnTo>
                  <a:pt x="520993" y="677496"/>
                </a:lnTo>
                <a:lnTo>
                  <a:pt x="557307" y="642868"/>
                </a:lnTo>
                <a:lnTo>
                  <a:pt x="593492" y="608121"/>
                </a:lnTo>
                <a:lnTo>
                  <a:pt x="629548" y="573257"/>
                </a:lnTo>
                <a:lnTo>
                  <a:pt x="665471" y="538274"/>
                </a:lnTo>
                <a:lnTo>
                  <a:pt x="701261" y="503176"/>
                </a:lnTo>
                <a:lnTo>
                  <a:pt x="736917" y="467961"/>
                </a:lnTo>
                <a:lnTo>
                  <a:pt x="772436" y="432632"/>
                </a:lnTo>
                <a:lnTo>
                  <a:pt x="807817" y="397188"/>
                </a:lnTo>
                <a:lnTo>
                  <a:pt x="843059" y="361631"/>
                </a:lnTo>
                <a:lnTo>
                  <a:pt x="878159" y="325962"/>
                </a:lnTo>
                <a:lnTo>
                  <a:pt x="913117" y="290180"/>
                </a:lnTo>
                <a:lnTo>
                  <a:pt x="947930" y="254288"/>
                </a:lnTo>
                <a:lnTo>
                  <a:pt x="982598" y="218285"/>
                </a:lnTo>
                <a:lnTo>
                  <a:pt x="1017118" y="182173"/>
                </a:lnTo>
                <a:lnTo>
                  <a:pt x="1051489" y="145953"/>
                </a:lnTo>
                <a:lnTo>
                  <a:pt x="1085709" y="109624"/>
                </a:lnTo>
                <a:lnTo>
                  <a:pt x="1119777" y="73189"/>
                </a:lnTo>
                <a:lnTo>
                  <a:pt x="1153691" y="36647"/>
                </a:lnTo>
                <a:lnTo>
                  <a:pt x="118745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 name="Google Shape;33;p14"/>
          <p:cNvSpPr/>
          <p:nvPr/>
        </p:nvSpPr>
        <p:spPr>
          <a:xfrm>
            <a:off x="11287125" y="6049962"/>
            <a:ext cx="879475" cy="793750"/>
          </a:xfrm>
          <a:custGeom>
            <a:rect b="b" l="l" r="r" t="t"/>
            <a:pathLst>
              <a:path extrusionOk="0" h="793750" w="879475">
                <a:moveTo>
                  <a:pt x="0" y="793750"/>
                </a:moveTo>
                <a:lnTo>
                  <a:pt x="39037" y="760811"/>
                </a:lnTo>
                <a:lnTo>
                  <a:pt x="78018" y="727714"/>
                </a:lnTo>
                <a:lnTo>
                  <a:pt x="116941" y="694459"/>
                </a:lnTo>
                <a:lnTo>
                  <a:pt x="155802" y="661050"/>
                </a:lnTo>
                <a:lnTo>
                  <a:pt x="194601" y="627488"/>
                </a:lnTo>
                <a:lnTo>
                  <a:pt x="233333" y="593777"/>
                </a:lnTo>
                <a:lnTo>
                  <a:pt x="271998" y="559918"/>
                </a:lnTo>
                <a:lnTo>
                  <a:pt x="310593" y="525913"/>
                </a:lnTo>
                <a:lnTo>
                  <a:pt x="349114" y="491765"/>
                </a:lnTo>
                <a:lnTo>
                  <a:pt x="387561" y="457477"/>
                </a:lnTo>
                <a:lnTo>
                  <a:pt x="425930" y="423051"/>
                </a:lnTo>
                <a:lnTo>
                  <a:pt x="464220" y="388488"/>
                </a:lnTo>
                <a:lnTo>
                  <a:pt x="502427" y="353792"/>
                </a:lnTo>
                <a:lnTo>
                  <a:pt x="540551" y="318965"/>
                </a:lnTo>
                <a:lnTo>
                  <a:pt x="578587" y="284009"/>
                </a:lnTo>
                <a:lnTo>
                  <a:pt x="616534" y="248926"/>
                </a:lnTo>
                <a:lnTo>
                  <a:pt x="654390" y="213719"/>
                </a:lnTo>
                <a:lnTo>
                  <a:pt x="692152" y="178390"/>
                </a:lnTo>
                <a:lnTo>
                  <a:pt x="729818" y="142942"/>
                </a:lnTo>
                <a:lnTo>
                  <a:pt x="767386" y="107376"/>
                </a:lnTo>
                <a:lnTo>
                  <a:pt x="804853" y="71696"/>
                </a:lnTo>
                <a:lnTo>
                  <a:pt x="842216" y="35903"/>
                </a:lnTo>
                <a:lnTo>
                  <a:pt x="879475"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 name="Google Shape;34;p14"/>
          <p:cNvSpPr/>
          <p:nvPr/>
        </p:nvSpPr>
        <p:spPr>
          <a:xfrm>
            <a:off x="0" y="0"/>
            <a:ext cx="12192000" cy="5788660"/>
          </a:xfrm>
          <a:custGeom>
            <a:rect b="b" l="l" r="r" t="t"/>
            <a:pathLst>
              <a:path extrusionOk="0" h="5788660" w="12192000">
                <a:moveTo>
                  <a:pt x="12192000" y="0"/>
                </a:moveTo>
                <a:lnTo>
                  <a:pt x="0" y="0"/>
                </a:lnTo>
                <a:lnTo>
                  <a:pt x="0" y="5788372"/>
                </a:lnTo>
                <a:lnTo>
                  <a:pt x="12192000" y="5788372"/>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 name="Google Shape;35;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38" name="Shape 38"/>
        <p:cNvGrpSpPr/>
        <p:nvPr/>
      </p:nvGrpSpPr>
      <p:grpSpPr>
        <a:xfrm>
          <a:off x="0" y="0"/>
          <a:ext cx="0" cy="0"/>
          <a:chOff x="0" y="0"/>
          <a:chExt cx="0" cy="0"/>
        </a:xfrm>
      </p:grpSpPr>
      <p:sp>
        <p:nvSpPr>
          <p:cNvPr id="39" name="Google Shape;39;p15"/>
          <p:cNvSpPr/>
          <p:nvPr/>
        </p:nvSpPr>
        <p:spPr>
          <a:xfrm>
            <a:off x="0" y="5788373"/>
            <a:ext cx="12192000" cy="1069975"/>
          </a:xfrm>
          <a:custGeom>
            <a:rect b="b" l="l" r="r" t="t"/>
            <a:pathLst>
              <a:path extrusionOk="0" h="1069975" w="12192000">
                <a:moveTo>
                  <a:pt x="0" y="1069626"/>
                </a:moveTo>
                <a:lnTo>
                  <a:pt x="12192000" y="1069626"/>
                </a:lnTo>
                <a:lnTo>
                  <a:pt x="12192000" y="0"/>
                </a:lnTo>
                <a:lnTo>
                  <a:pt x="0" y="0"/>
                </a:lnTo>
                <a:lnTo>
                  <a:pt x="0" y="1069626"/>
                </a:lnTo>
                <a:close/>
              </a:path>
            </a:pathLst>
          </a:custGeom>
          <a:solidFill>
            <a:srgbClr val="45454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 name="Google Shape;40;p15"/>
          <p:cNvSpPr/>
          <p:nvPr/>
        </p:nvSpPr>
        <p:spPr>
          <a:xfrm>
            <a:off x="10247312" y="5013325"/>
            <a:ext cx="1919605" cy="1830705"/>
          </a:xfrm>
          <a:custGeom>
            <a:rect b="b" l="l" r="r" t="t"/>
            <a:pathLst>
              <a:path extrusionOk="0" h="1830704" w="1919604">
                <a:moveTo>
                  <a:pt x="0" y="1830388"/>
                </a:moveTo>
                <a:lnTo>
                  <a:pt x="39978" y="1799304"/>
                </a:lnTo>
                <a:lnTo>
                  <a:pt x="79880" y="1768042"/>
                </a:lnTo>
                <a:lnTo>
                  <a:pt x="119702" y="1736603"/>
                </a:lnTo>
                <a:lnTo>
                  <a:pt x="159444" y="1704987"/>
                </a:lnTo>
                <a:lnTo>
                  <a:pt x="199100" y="1673196"/>
                </a:lnTo>
                <a:lnTo>
                  <a:pt x="238670" y="1641231"/>
                </a:lnTo>
                <a:lnTo>
                  <a:pt x="278150" y="1609093"/>
                </a:lnTo>
                <a:lnTo>
                  <a:pt x="317538" y="1576782"/>
                </a:lnTo>
                <a:lnTo>
                  <a:pt x="356831" y="1544301"/>
                </a:lnTo>
                <a:lnTo>
                  <a:pt x="396027" y="1511649"/>
                </a:lnTo>
                <a:lnTo>
                  <a:pt x="435122" y="1478827"/>
                </a:lnTo>
                <a:lnTo>
                  <a:pt x="474115" y="1445838"/>
                </a:lnTo>
                <a:lnTo>
                  <a:pt x="513002" y="1412682"/>
                </a:lnTo>
                <a:lnTo>
                  <a:pt x="551781" y="1379359"/>
                </a:lnTo>
                <a:lnTo>
                  <a:pt x="590450" y="1345871"/>
                </a:lnTo>
                <a:lnTo>
                  <a:pt x="629005" y="1312219"/>
                </a:lnTo>
                <a:lnTo>
                  <a:pt x="667444" y="1278404"/>
                </a:lnTo>
                <a:lnTo>
                  <a:pt x="705765" y="1244427"/>
                </a:lnTo>
                <a:lnTo>
                  <a:pt x="743964" y="1210289"/>
                </a:lnTo>
                <a:lnTo>
                  <a:pt x="782040" y="1175990"/>
                </a:lnTo>
                <a:lnTo>
                  <a:pt x="819989" y="1141533"/>
                </a:lnTo>
                <a:lnTo>
                  <a:pt x="857809" y="1106918"/>
                </a:lnTo>
                <a:lnTo>
                  <a:pt x="895497" y="1072145"/>
                </a:lnTo>
                <a:lnTo>
                  <a:pt x="933051" y="1037217"/>
                </a:lnTo>
                <a:lnTo>
                  <a:pt x="970467" y="1002133"/>
                </a:lnTo>
                <a:lnTo>
                  <a:pt x="1007744" y="966896"/>
                </a:lnTo>
                <a:lnTo>
                  <a:pt x="1044879" y="931506"/>
                </a:lnTo>
                <a:lnTo>
                  <a:pt x="1081869" y="895963"/>
                </a:lnTo>
                <a:lnTo>
                  <a:pt x="1118711" y="860270"/>
                </a:lnTo>
                <a:lnTo>
                  <a:pt x="1155403" y="824427"/>
                </a:lnTo>
                <a:lnTo>
                  <a:pt x="1191942" y="788435"/>
                </a:lnTo>
                <a:lnTo>
                  <a:pt x="1228326" y="752295"/>
                </a:lnTo>
                <a:lnTo>
                  <a:pt x="1264551" y="716008"/>
                </a:lnTo>
                <a:lnTo>
                  <a:pt x="1300616" y="679575"/>
                </a:lnTo>
                <a:lnTo>
                  <a:pt x="1336517" y="642998"/>
                </a:lnTo>
                <a:lnTo>
                  <a:pt x="1372253" y="606276"/>
                </a:lnTo>
                <a:lnTo>
                  <a:pt x="1407819" y="569412"/>
                </a:lnTo>
                <a:lnTo>
                  <a:pt x="1443215" y="532406"/>
                </a:lnTo>
                <a:lnTo>
                  <a:pt x="1478436" y="495259"/>
                </a:lnTo>
                <a:lnTo>
                  <a:pt x="1513481" y="457972"/>
                </a:lnTo>
                <a:lnTo>
                  <a:pt x="1548347" y="420547"/>
                </a:lnTo>
                <a:lnTo>
                  <a:pt x="1583030" y="382984"/>
                </a:lnTo>
                <a:lnTo>
                  <a:pt x="1617530" y="345284"/>
                </a:lnTo>
                <a:lnTo>
                  <a:pt x="1651842" y="307448"/>
                </a:lnTo>
                <a:lnTo>
                  <a:pt x="1685964" y="269478"/>
                </a:lnTo>
                <a:lnTo>
                  <a:pt x="1719895" y="231374"/>
                </a:lnTo>
                <a:lnTo>
                  <a:pt x="1753630" y="193138"/>
                </a:lnTo>
                <a:lnTo>
                  <a:pt x="1787167" y="154769"/>
                </a:lnTo>
                <a:lnTo>
                  <a:pt x="1820504" y="116270"/>
                </a:lnTo>
                <a:lnTo>
                  <a:pt x="1853638" y="77642"/>
                </a:lnTo>
                <a:lnTo>
                  <a:pt x="1886567" y="38884"/>
                </a:lnTo>
                <a:lnTo>
                  <a:pt x="1919288"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 name="Google Shape;41;p15"/>
          <p:cNvSpPr/>
          <p:nvPr/>
        </p:nvSpPr>
        <p:spPr>
          <a:xfrm>
            <a:off x="10494962" y="5275262"/>
            <a:ext cx="1666875" cy="1577975"/>
          </a:xfrm>
          <a:custGeom>
            <a:rect b="b" l="l" r="r" t="t"/>
            <a:pathLst>
              <a:path extrusionOk="0" h="1577975" w="1666875">
                <a:moveTo>
                  <a:pt x="0" y="1577975"/>
                </a:moveTo>
                <a:lnTo>
                  <a:pt x="39538" y="1546211"/>
                </a:lnTo>
                <a:lnTo>
                  <a:pt x="79004" y="1514293"/>
                </a:lnTo>
                <a:lnTo>
                  <a:pt x="118394" y="1482220"/>
                </a:lnTo>
                <a:lnTo>
                  <a:pt x="157704" y="1449994"/>
                </a:lnTo>
                <a:lnTo>
                  <a:pt x="196934" y="1417613"/>
                </a:lnTo>
                <a:lnTo>
                  <a:pt x="236078" y="1385080"/>
                </a:lnTo>
                <a:lnTo>
                  <a:pt x="275136" y="1352393"/>
                </a:lnTo>
                <a:lnTo>
                  <a:pt x="314103" y="1319554"/>
                </a:lnTo>
                <a:lnTo>
                  <a:pt x="352978" y="1286562"/>
                </a:lnTo>
                <a:lnTo>
                  <a:pt x="391757" y="1253419"/>
                </a:lnTo>
                <a:lnTo>
                  <a:pt x="430437" y="1220123"/>
                </a:lnTo>
                <a:lnTo>
                  <a:pt x="469017" y="1186676"/>
                </a:lnTo>
                <a:lnTo>
                  <a:pt x="507492" y="1153078"/>
                </a:lnTo>
                <a:lnTo>
                  <a:pt x="545860" y="1119329"/>
                </a:lnTo>
                <a:lnTo>
                  <a:pt x="584118" y="1085429"/>
                </a:lnTo>
                <a:lnTo>
                  <a:pt x="622264" y="1051380"/>
                </a:lnTo>
                <a:lnTo>
                  <a:pt x="660294" y="1017180"/>
                </a:lnTo>
                <a:lnTo>
                  <a:pt x="698206" y="982831"/>
                </a:lnTo>
                <a:lnTo>
                  <a:pt x="735998" y="948332"/>
                </a:lnTo>
                <a:lnTo>
                  <a:pt x="773665" y="913685"/>
                </a:lnTo>
                <a:lnTo>
                  <a:pt x="811206" y="878889"/>
                </a:lnTo>
                <a:lnTo>
                  <a:pt x="848617" y="843944"/>
                </a:lnTo>
                <a:lnTo>
                  <a:pt x="885896" y="808852"/>
                </a:lnTo>
                <a:lnTo>
                  <a:pt x="923040" y="773611"/>
                </a:lnTo>
                <a:lnTo>
                  <a:pt x="960046" y="738224"/>
                </a:lnTo>
                <a:lnTo>
                  <a:pt x="996911" y="702689"/>
                </a:lnTo>
                <a:lnTo>
                  <a:pt x="1033633" y="667008"/>
                </a:lnTo>
                <a:lnTo>
                  <a:pt x="1070208" y="631180"/>
                </a:lnTo>
                <a:lnTo>
                  <a:pt x="1106635" y="595206"/>
                </a:lnTo>
                <a:lnTo>
                  <a:pt x="1142909" y="559086"/>
                </a:lnTo>
                <a:lnTo>
                  <a:pt x="1179028" y="522820"/>
                </a:lnTo>
                <a:lnTo>
                  <a:pt x="1214990" y="486410"/>
                </a:lnTo>
                <a:lnTo>
                  <a:pt x="1250792" y="449854"/>
                </a:lnTo>
                <a:lnTo>
                  <a:pt x="1286430" y="413154"/>
                </a:lnTo>
                <a:lnTo>
                  <a:pt x="1321903" y="376310"/>
                </a:lnTo>
                <a:lnTo>
                  <a:pt x="1357206" y="339321"/>
                </a:lnTo>
                <a:lnTo>
                  <a:pt x="1392338" y="302189"/>
                </a:lnTo>
                <a:lnTo>
                  <a:pt x="1427295" y="264914"/>
                </a:lnTo>
                <a:lnTo>
                  <a:pt x="1462075" y="227495"/>
                </a:lnTo>
                <a:lnTo>
                  <a:pt x="1496675" y="189934"/>
                </a:lnTo>
                <a:lnTo>
                  <a:pt x="1531092" y="152231"/>
                </a:lnTo>
                <a:lnTo>
                  <a:pt x="1565323" y="114385"/>
                </a:lnTo>
                <a:lnTo>
                  <a:pt x="1599366" y="76398"/>
                </a:lnTo>
                <a:lnTo>
                  <a:pt x="1633217" y="38269"/>
                </a:lnTo>
                <a:lnTo>
                  <a:pt x="1666875"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 name="Google Shape;42;p15"/>
          <p:cNvSpPr/>
          <p:nvPr/>
        </p:nvSpPr>
        <p:spPr>
          <a:xfrm>
            <a:off x="10641012" y="5408612"/>
            <a:ext cx="1525905" cy="1435100"/>
          </a:xfrm>
          <a:custGeom>
            <a:rect b="b" l="l" r="r" t="t"/>
            <a:pathLst>
              <a:path extrusionOk="0" h="1435100" w="1525904">
                <a:moveTo>
                  <a:pt x="0" y="1435100"/>
                </a:moveTo>
                <a:lnTo>
                  <a:pt x="39600" y="1403034"/>
                </a:lnTo>
                <a:lnTo>
                  <a:pt x="79114" y="1370817"/>
                </a:lnTo>
                <a:lnTo>
                  <a:pt x="118538" y="1338447"/>
                </a:lnTo>
                <a:lnTo>
                  <a:pt x="157869" y="1305927"/>
                </a:lnTo>
                <a:lnTo>
                  <a:pt x="197106" y="1273255"/>
                </a:lnTo>
                <a:lnTo>
                  <a:pt x="236246" y="1240433"/>
                </a:lnTo>
                <a:lnTo>
                  <a:pt x="275286" y="1207460"/>
                </a:lnTo>
                <a:lnTo>
                  <a:pt x="314223" y="1174338"/>
                </a:lnTo>
                <a:lnTo>
                  <a:pt x="353056" y="1141067"/>
                </a:lnTo>
                <a:lnTo>
                  <a:pt x="391782" y="1107646"/>
                </a:lnTo>
                <a:lnTo>
                  <a:pt x="430398" y="1074077"/>
                </a:lnTo>
                <a:lnTo>
                  <a:pt x="468902" y="1040360"/>
                </a:lnTo>
                <a:lnTo>
                  <a:pt x="507292" y="1006495"/>
                </a:lnTo>
                <a:lnTo>
                  <a:pt x="545564" y="972483"/>
                </a:lnTo>
                <a:lnTo>
                  <a:pt x="583717" y="938324"/>
                </a:lnTo>
                <a:lnTo>
                  <a:pt x="621748" y="904019"/>
                </a:lnTo>
                <a:lnTo>
                  <a:pt x="659654" y="869567"/>
                </a:lnTo>
                <a:lnTo>
                  <a:pt x="697433" y="834970"/>
                </a:lnTo>
                <a:lnTo>
                  <a:pt x="735083" y="800228"/>
                </a:lnTo>
                <a:lnTo>
                  <a:pt x="772601" y="765341"/>
                </a:lnTo>
                <a:lnTo>
                  <a:pt x="809984" y="730310"/>
                </a:lnTo>
                <a:lnTo>
                  <a:pt x="847230" y="695134"/>
                </a:lnTo>
                <a:lnTo>
                  <a:pt x="884337" y="659815"/>
                </a:lnTo>
                <a:lnTo>
                  <a:pt x="921302" y="624353"/>
                </a:lnTo>
                <a:lnTo>
                  <a:pt x="958122" y="588749"/>
                </a:lnTo>
                <a:lnTo>
                  <a:pt x="994796" y="553002"/>
                </a:lnTo>
                <a:lnTo>
                  <a:pt x="1031320" y="517113"/>
                </a:lnTo>
                <a:lnTo>
                  <a:pt x="1067693" y="481082"/>
                </a:lnTo>
                <a:lnTo>
                  <a:pt x="1103911" y="444911"/>
                </a:lnTo>
                <a:lnTo>
                  <a:pt x="1139972" y="408598"/>
                </a:lnTo>
                <a:lnTo>
                  <a:pt x="1175874" y="372146"/>
                </a:lnTo>
                <a:lnTo>
                  <a:pt x="1211615" y="335554"/>
                </a:lnTo>
                <a:lnTo>
                  <a:pt x="1247191" y="298822"/>
                </a:lnTo>
                <a:lnTo>
                  <a:pt x="1282600" y="261951"/>
                </a:lnTo>
                <a:lnTo>
                  <a:pt x="1317840" y="224942"/>
                </a:lnTo>
                <a:lnTo>
                  <a:pt x="1352908" y="187795"/>
                </a:lnTo>
                <a:lnTo>
                  <a:pt x="1387802" y="150510"/>
                </a:lnTo>
                <a:lnTo>
                  <a:pt x="1422520" y="113087"/>
                </a:lnTo>
                <a:lnTo>
                  <a:pt x="1457058" y="75528"/>
                </a:lnTo>
                <a:lnTo>
                  <a:pt x="1491415" y="37832"/>
                </a:lnTo>
                <a:lnTo>
                  <a:pt x="1525588"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43" name="Google Shape;43;p15"/>
          <p:cNvPicPr preferRelativeResize="0"/>
          <p:nvPr/>
        </p:nvPicPr>
        <p:blipFill rotWithShape="1">
          <a:blip r:embed="rId2">
            <a:alphaModFix/>
          </a:blip>
          <a:srcRect b="0" l="0" r="0" t="0"/>
          <a:stretch/>
        </p:blipFill>
        <p:spPr>
          <a:xfrm>
            <a:off x="0" y="-6350"/>
            <a:ext cx="5173662" cy="6856413"/>
          </a:xfrm>
          <a:prstGeom prst="rect">
            <a:avLst/>
          </a:prstGeom>
          <a:noFill/>
          <a:ln>
            <a:noFill/>
          </a:ln>
        </p:spPr>
      </p:pic>
      <p:sp>
        <p:nvSpPr>
          <p:cNvPr id="44" name="Google Shape;44;p15"/>
          <p:cNvSpPr/>
          <p:nvPr/>
        </p:nvSpPr>
        <p:spPr>
          <a:xfrm>
            <a:off x="10802937" y="5518150"/>
            <a:ext cx="1363980" cy="1325880"/>
          </a:xfrm>
          <a:custGeom>
            <a:rect b="b" l="l" r="r" t="t"/>
            <a:pathLst>
              <a:path extrusionOk="0" h="1325879" w="1363979">
                <a:moveTo>
                  <a:pt x="0" y="1325563"/>
                </a:moveTo>
                <a:lnTo>
                  <a:pt x="38868" y="1292360"/>
                </a:lnTo>
                <a:lnTo>
                  <a:pt x="77651" y="1259012"/>
                </a:lnTo>
                <a:lnTo>
                  <a:pt x="116346" y="1225518"/>
                </a:lnTo>
                <a:lnTo>
                  <a:pt x="154951" y="1191879"/>
                </a:lnTo>
                <a:lnTo>
                  <a:pt x="193464" y="1158093"/>
                </a:lnTo>
                <a:lnTo>
                  <a:pt x="231882" y="1124162"/>
                </a:lnTo>
                <a:lnTo>
                  <a:pt x="270203" y="1090085"/>
                </a:lnTo>
                <a:lnTo>
                  <a:pt x="308425" y="1055863"/>
                </a:lnTo>
                <a:lnTo>
                  <a:pt x="346546" y="1021494"/>
                </a:lnTo>
                <a:lnTo>
                  <a:pt x="384564" y="986980"/>
                </a:lnTo>
                <a:lnTo>
                  <a:pt x="422475" y="952320"/>
                </a:lnTo>
                <a:lnTo>
                  <a:pt x="460279" y="917514"/>
                </a:lnTo>
                <a:lnTo>
                  <a:pt x="497972" y="882563"/>
                </a:lnTo>
                <a:lnTo>
                  <a:pt x="535553" y="847466"/>
                </a:lnTo>
                <a:lnTo>
                  <a:pt x="573019" y="812223"/>
                </a:lnTo>
                <a:lnTo>
                  <a:pt x="610367" y="776834"/>
                </a:lnTo>
                <a:lnTo>
                  <a:pt x="647597" y="741299"/>
                </a:lnTo>
                <a:lnTo>
                  <a:pt x="684705" y="705619"/>
                </a:lnTo>
                <a:lnTo>
                  <a:pt x="721689" y="669793"/>
                </a:lnTo>
                <a:lnTo>
                  <a:pt x="758547" y="633821"/>
                </a:lnTo>
                <a:lnTo>
                  <a:pt x="795277" y="597704"/>
                </a:lnTo>
                <a:lnTo>
                  <a:pt x="831876" y="561441"/>
                </a:lnTo>
                <a:lnTo>
                  <a:pt x="868342" y="525031"/>
                </a:lnTo>
                <a:lnTo>
                  <a:pt x="904673" y="488477"/>
                </a:lnTo>
                <a:lnTo>
                  <a:pt x="940867" y="451776"/>
                </a:lnTo>
                <a:lnTo>
                  <a:pt x="976921" y="414930"/>
                </a:lnTo>
                <a:lnTo>
                  <a:pt x="1012834" y="377938"/>
                </a:lnTo>
                <a:lnTo>
                  <a:pt x="1048602" y="340800"/>
                </a:lnTo>
                <a:lnTo>
                  <a:pt x="1084224" y="303516"/>
                </a:lnTo>
                <a:lnTo>
                  <a:pt x="1119698" y="266087"/>
                </a:lnTo>
                <a:lnTo>
                  <a:pt x="1155020" y="228511"/>
                </a:lnTo>
                <a:lnTo>
                  <a:pt x="1190190" y="190791"/>
                </a:lnTo>
                <a:lnTo>
                  <a:pt x="1225204" y="152924"/>
                </a:lnTo>
                <a:lnTo>
                  <a:pt x="1260061" y="114911"/>
                </a:lnTo>
                <a:lnTo>
                  <a:pt x="1294758" y="76753"/>
                </a:lnTo>
                <a:lnTo>
                  <a:pt x="1329292" y="38449"/>
                </a:lnTo>
                <a:lnTo>
                  <a:pt x="1363663"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 name="Google Shape;45;p15"/>
          <p:cNvSpPr/>
          <p:nvPr/>
        </p:nvSpPr>
        <p:spPr>
          <a:xfrm>
            <a:off x="10979150" y="5694362"/>
            <a:ext cx="1187450" cy="1149350"/>
          </a:xfrm>
          <a:custGeom>
            <a:rect b="b" l="l" r="r" t="t"/>
            <a:pathLst>
              <a:path extrusionOk="0" h="1149350" w="1187450">
                <a:moveTo>
                  <a:pt x="0" y="1149350"/>
                </a:moveTo>
                <a:lnTo>
                  <a:pt x="37945" y="1116470"/>
                </a:lnTo>
                <a:lnTo>
                  <a:pt x="75785" y="1083461"/>
                </a:lnTo>
                <a:lnTo>
                  <a:pt x="113517" y="1050323"/>
                </a:lnTo>
                <a:lnTo>
                  <a:pt x="151139" y="1017056"/>
                </a:lnTo>
                <a:lnTo>
                  <a:pt x="188650" y="983661"/>
                </a:lnTo>
                <a:lnTo>
                  <a:pt x="226049" y="950140"/>
                </a:lnTo>
                <a:lnTo>
                  <a:pt x="263333" y="916492"/>
                </a:lnTo>
                <a:lnTo>
                  <a:pt x="300502" y="882719"/>
                </a:lnTo>
                <a:lnTo>
                  <a:pt x="337553" y="848822"/>
                </a:lnTo>
                <a:lnTo>
                  <a:pt x="374485" y="814801"/>
                </a:lnTo>
                <a:lnTo>
                  <a:pt x="411297" y="780657"/>
                </a:lnTo>
                <a:lnTo>
                  <a:pt x="447987" y="746391"/>
                </a:lnTo>
                <a:lnTo>
                  <a:pt x="484553" y="712003"/>
                </a:lnTo>
                <a:lnTo>
                  <a:pt x="520993" y="677496"/>
                </a:lnTo>
                <a:lnTo>
                  <a:pt x="557307" y="642868"/>
                </a:lnTo>
                <a:lnTo>
                  <a:pt x="593492" y="608121"/>
                </a:lnTo>
                <a:lnTo>
                  <a:pt x="629548" y="573257"/>
                </a:lnTo>
                <a:lnTo>
                  <a:pt x="665471" y="538274"/>
                </a:lnTo>
                <a:lnTo>
                  <a:pt x="701261" y="503176"/>
                </a:lnTo>
                <a:lnTo>
                  <a:pt x="736917" y="467961"/>
                </a:lnTo>
                <a:lnTo>
                  <a:pt x="772436" y="432632"/>
                </a:lnTo>
                <a:lnTo>
                  <a:pt x="807817" y="397188"/>
                </a:lnTo>
                <a:lnTo>
                  <a:pt x="843059" y="361631"/>
                </a:lnTo>
                <a:lnTo>
                  <a:pt x="878159" y="325962"/>
                </a:lnTo>
                <a:lnTo>
                  <a:pt x="913117" y="290180"/>
                </a:lnTo>
                <a:lnTo>
                  <a:pt x="947930" y="254288"/>
                </a:lnTo>
                <a:lnTo>
                  <a:pt x="982598" y="218285"/>
                </a:lnTo>
                <a:lnTo>
                  <a:pt x="1017118" y="182173"/>
                </a:lnTo>
                <a:lnTo>
                  <a:pt x="1051489" y="145953"/>
                </a:lnTo>
                <a:lnTo>
                  <a:pt x="1085709" y="109624"/>
                </a:lnTo>
                <a:lnTo>
                  <a:pt x="1119777" y="73189"/>
                </a:lnTo>
                <a:lnTo>
                  <a:pt x="1153691" y="36647"/>
                </a:lnTo>
                <a:lnTo>
                  <a:pt x="118745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5"/>
          <p:cNvSpPr/>
          <p:nvPr/>
        </p:nvSpPr>
        <p:spPr>
          <a:xfrm>
            <a:off x="11287125" y="6049962"/>
            <a:ext cx="879475" cy="793750"/>
          </a:xfrm>
          <a:custGeom>
            <a:rect b="b" l="l" r="r" t="t"/>
            <a:pathLst>
              <a:path extrusionOk="0" h="793750" w="879475">
                <a:moveTo>
                  <a:pt x="0" y="793750"/>
                </a:moveTo>
                <a:lnTo>
                  <a:pt x="39037" y="760811"/>
                </a:lnTo>
                <a:lnTo>
                  <a:pt x="78018" y="727714"/>
                </a:lnTo>
                <a:lnTo>
                  <a:pt x="116941" y="694459"/>
                </a:lnTo>
                <a:lnTo>
                  <a:pt x="155802" y="661050"/>
                </a:lnTo>
                <a:lnTo>
                  <a:pt x="194601" y="627488"/>
                </a:lnTo>
                <a:lnTo>
                  <a:pt x="233333" y="593777"/>
                </a:lnTo>
                <a:lnTo>
                  <a:pt x="271998" y="559918"/>
                </a:lnTo>
                <a:lnTo>
                  <a:pt x="310593" y="525913"/>
                </a:lnTo>
                <a:lnTo>
                  <a:pt x="349114" y="491765"/>
                </a:lnTo>
                <a:lnTo>
                  <a:pt x="387561" y="457477"/>
                </a:lnTo>
                <a:lnTo>
                  <a:pt x="425930" y="423051"/>
                </a:lnTo>
                <a:lnTo>
                  <a:pt x="464220" y="388488"/>
                </a:lnTo>
                <a:lnTo>
                  <a:pt x="502427" y="353792"/>
                </a:lnTo>
                <a:lnTo>
                  <a:pt x="540551" y="318965"/>
                </a:lnTo>
                <a:lnTo>
                  <a:pt x="578587" y="284009"/>
                </a:lnTo>
                <a:lnTo>
                  <a:pt x="616534" y="248926"/>
                </a:lnTo>
                <a:lnTo>
                  <a:pt x="654390" y="213719"/>
                </a:lnTo>
                <a:lnTo>
                  <a:pt x="692152" y="178390"/>
                </a:lnTo>
                <a:lnTo>
                  <a:pt x="729818" y="142942"/>
                </a:lnTo>
                <a:lnTo>
                  <a:pt x="767386" y="107376"/>
                </a:lnTo>
                <a:lnTo>
                  <a:pt x="804853" y="71696"/>
                </a:lnTo>
                <a:lnTo>
                  <a:pt x="842216" y="35903"/>
                </a:lnTo>
                <a:lnTo>
                  <a:pt x="879475"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 name="Google Shape;47;p15"/>
          <p:cNvSpPr/>
          <p:nvPr/>
        </p:nvSpPr>
        <p:spPr>
          <a:xfrm>
            <a:off x="0" y="0"/>
            <a:ext cx="12192000" cy="5788660"/>
          </a:xfrm>
          <a:custGeom>
            <a:rect b="b" l="l" r="r" t="t"/>
            <a:pathLst>
              <a:path extrusionOk="0" h="5788660" w="12192000">
                <a:moveTo>
                  <a:pt x="12192000" y="0"/>
                </a:moveTo>
                <a:lnTo>
                  <a:pt x="0" y="0"/>
                </a:lnTo>
                <a:lnTo>
                  <a:pt x="0" y="5788372"/>
                </a:lnTo>
                <a:lnTo>
                  <a:pt x="12192000" y="5788372"/>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 name="Google Shape;48;p15"/>
          <p:cNvSpPr txBox="1"/>
          <p:nvPr>
            <p:ph type="ctrTitle"/>
          </p:nvPr>
        </p:nvSpPr>
        <p:spPr>
          <a:xfrm>
            <a:off x="2765967" y="1301715"/>
            <a:ext cx="5078095" cy="3244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95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3" name="Shape 53"/>
        <p:cNvGrpSpPr/>
        <p:nvPr/>
      </p:nvGrpSpPr>
      <p:grpSpPr>
        <a:xfrm>
          <a:off x="0" y="0"/>
          <a:ext cx="0" cy="0"/>
          <a:chOff x="0" y="0"/>
          <a:chExt cx="0" cy="0"/>
        </a:xfrm>
      </p:grpSpPr>
      <p:sp>
        <p:nvSpPr>
          <p:cNvPr id="54" name="Google Shape;54;p16"/>
          <p:cNvSpPr txBox="1"/>
          <p:nvPr>
            <p:ph type="title"/>
          </p:nvPr>
        </p:nvSpPr>
        <p:spPr>
          <a:xfrm>
            <a:off x="2611541" y="511515"/>
            <a:ext cx="8990965" cy="3543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95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0" name="Shape 60"/>
        <p:cNvGrpSpPr/>
        <p:nvPr/>
      </p:nvGrpSpPr>
      <p:grpSpPr>
        <a:xfrm>
          <a:off x="0" y="0"/>
          <a:ext cx="0" cy="0"/>
          <a:chOff x="0" y="0"/>
          <a:chExt cx="0" cy="0"/>
        </a:xfrm>
      </p:grpSpPr>
      <p:sp>
        <p:nvSpPr>
          <p:cNvPr id="61" name="Google Shape;61;p17"/>
          <p:cNvSpPr txBox="1"/>
          <p:nvPr>
            <p:ph type="title"/>
          </p:nvPr>
        </p:nvSpPr>
        <p:spPr>
          <a:xfrm>
            <a:off x="2611541" y="511515"/>
            <a:ext cx="8990965" cy="3543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95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p:nvPr/>
        </p:nvSpPr>
        <p:spPr>
          <a:xfrm>
            <a:off x="0" y="5788373"/>
            <a:ext cx="12192000" cy="1069975"/>
          </a:xfrm>
          <a:custGeom>
            <a:rect b="b" l="l" r="r" t="t"/>
            <a:pathLst>
              <a:path extrusionOk="0" h="1069975" w="12192000">
                <a:moveTo>
                  <a:pt x="0" y="1069626"/>
                </a:moveTo>
                <a:lnTo>
                  <a:pt x="12192000" y="1069626"/>
                </a:lnTo>
                <a:lnTo>
                  <a:pt x="12192000" y="0"/>
                </a:lnTo>
                <a:lnTo>
                  <a:pt x="0" y="0"/>
                </a:lnTo>
                <a:lnTo>
                  <a:pt x="0" y="1069626"/>
                </a:lnTo>
                <a:close/>
              </a:path>
            </a:pathLst>
          </a:custGeom>
          <a:solidFill>
            <a:srgbClr val="45454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2"/>
          <p:cNvSpPr/>
          <p:nvPr/>
        </p:nvSpPr>
        <p:spPr>
          <a:xfrm>
            <a:off x="10247312" y="5013325"/>
            <a:ext cx="1919605" cy="1830705"/>
          </a:xfrm>
          <a:custGeom>
            <a:rect b="b" l="l" r="r" t="t"/>
            <a:pathLst>
              <a:path extrusionOk="0" h="1830704" w="1919604">
                <a:moveTo>
                  <a:pt x="0" y="1830388"/>
                </a:moveTo>
                <a:lnTo>
                  <a:pt x="39978" y="1799304"/>
                </a:lnTo>
                <a:lnTo>
                  <a:pt x="79880" y="1768042"/>
                </a:lnTo>
                <a:lnTo>
                  <a:pt x="119702" y="1736603"/>
                </a:lnTo>
                <a:lnTo>
                  <a:pt x="159444" y="1704987"/>
                </a:lnTo>
                <a:lnTo>
                  <a:pt x="199100" y="1673196"/>
                </a:lnTo>
                <a:lnTo>
                  <a:pt x="238670" y="1641231"/>
                </a:lnTo>
                <a:lnTo>
                  <a:pt x="278150" y="1609093"/>
                </a:lnTo>
                <a:lnTo>
                  <a:pt x="317538" y="1576782"/>
                </a:lnTo>
                <a:lnTo>
                  <a:pt x="356831" y="1544301"/>
                </a:lnTo>
                <a:lnTo>
                  <a:pt x="396027" y="1511649"/>
                </a:lnTo>
                <a:lnTo>
                  <a:pt x="435122" y="1478827"/>
                </a:lnTo>
                <a:lnTo>
                  <a:pt x="474115" y="1445838"/>
                </a:lnTo>
                <a:lnTo>
                  <a:pt x="513002" y="1412682"/>
                </a:lnTo>
                <a:lnTo>
                  <a:pt x="551781" y="1379359"/>
                </a:lnTo>
                <a:lnTo>
                  <a:pt x="590450" y="1345871"/>
                </a:lnTo>
                <a:lnTo>
                  <a:pt x="629005" y="1312219"/>
                </a:lnTo>
                <a:lnTo>
                  <a:pt x="667444" y="1278404"/>
                </a:lnTo>
                <a:lnTo>
                  <a:pt x="705765" y="1244427"/>
                </a:lnTo>
                <a:lnTo>
                  <a:pt x="743964" y="1210289"/>
                </a:lnTo>
                <a:lnTo>
                  <a:pt x="782040" y="1175990"/>
                </a:lnTo>
                <a:lnTo>
                  <a:pt x="819989" y="1141533"/>
                </a:lnTo>
                <a:lnTo>
                  <a:pt x="857809" y="1106918"/>
                </a:lnTo>
                <a:lnTo>
                  <a:pt x="895497" y="1072145"/>
                </a:lnTo>
                <a:lnTo>
                  <a:pt x="933051" y="1037217"/>
                </a:lnTo>
                <a:lnTo>
                  <a:pt x="970467" y="1002133"/>
                </a:lnTo>
                <a:lnTo>
                  <a:pt x="1007744" y="966896"/>
                </a:lnTo>
                <a:lnTo>
                  <a:pt x="1044879" y="931506"/>
                </a:lnTo>
                <a:lnTo>
                  <a:pt x="1081869" y="895963"/>
                </a:lnTo>
                <a:lnTo>
                  <a:pt x="1118711" y="860270"/>
                </a:lnTo>
                <a:lnTo>
                  <a:pt x="1155403" y="824427"/>
                </a:lnTo>
                <a:lnTo>
                  <a:pt x="1191942" y="788435"/>
                </a:lnTo>
                <a:lnTo>
                  <a:pt x="1228326" y="752295"/>
                </a:lnTo>
                <a:lnTo>
                  <a:pt x="1264551" y="716008"/>
                </a:lnTo>
                <a:lnTo>
                  <a:pt x="1300616" y="679575"/>
                </a:lnTo>
                <a:lnTo>
                  <a:pt x="1336517" y="642998"/>
                </a:lnTo>
                <a:lnTo>
                  <a:pt x="1372253" y="606276"/>
                </a:lnTo>
                <a:lnTo>
                  <a:pt x="1407819" y="569412"/>
                </a:lnTo>
                <a:lnTo>
                  <a:pt x="1443215" y="532406"/>
                </a:lnTo>
                <a:lnTo>
                  <a:pt x="1478436" y="495259"/>
                </a:lnTo>
                <a:lnTo>
                  <a:pt x="1513481" y="457972"/>
                </a:lnTo>
                <a:lnTo>
                  <a:pt x="1548347" y="420547"/>
                </a:lnTo>
                <a:lnTo>
                  <a:pt x="1583030" y="382984"/>
                </a:lnTo>
                <a:lnTo>
                  <a:pt x="1617530" y="345284"/>
                </a:lnTo>
                <a:lnTo>
                  <a:pt x="1651842" y="307448"/>
                </a:lnTo>
                <a:lnTo>
                  <a:pt x="1685964" y="269478"/>
                </a:lnTo>
                <a:lnTo>
                  <a:pt x="1719895" y="231374"/>
                </a:lnTo>
                <a:lnTo>
                  <a:pt x="1753630" y="193138"/>
                </a:lnTo>
                <a:lnTo>
                  <a:pt x="1787167" y="154769"/>
                </a:lnTo>
                <a:lnTo>
                  <a:pt x="1820504" y="116270"/>
                </a:lnTo>
                <a:lnTo>
                  <a:pt x="1853638" y="77642"/>
                </a:lnTo>
                <a:lnTo>
                  <a:pt x="1886567" y="38884"/>
                </a:lnTo>
                <a:lnTo>
                  <a:pt x="1919288"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2"/>
          <p:cNvSpPr/>
          <p:nvPr/>
        </p:nvSpPr>
        <p:spPr>
          <a:xfrm>
            <a:off x="10494962" y="5275262"/>
            <a:ext cx="1666875" cy="1577975"/>
          </a:xfrm>
          <a:custGeom>
            <a:rect b="b" l="l" r="r" t="t"/>
            <a:pathLst>
              <a:path extrusionOk="0" h="1577975" w="1666875">
                <a:moveTo>
                  <a:pt x="0" y="1577975"/>
                </a:moveTo>
                <a:lnTo>
                  <a:pt x="39538" y="1546211"/>
                </a:lnTo>
                <a:lnTo>
                  <a:pt x="79004" y="1514293"/>
                </a:lnTo>
                <a:lnTo>
                  <a:pt x="118394" y="1482220"/>
                </a:lnTo>
                <a:lnTo>
                  <a:pt x="157704" y="1449994"/>
                </a:lnTo>
                <a:lnTo>
                  <a:pt x="196934" y="1417613"/>
                </a:lnTo>
                <a:lnTo>
                  <a:pt x="236078" y="1385080"/>
                </a:lnTo>
                <a:lnTo>
                  <a:pt x="275136" y="1352393"/>
                </a:lnTo>
                <a:lnTo>
                  <a:pt x="314103" y="1319554"/>
                </a:lnTo>
                <a:lnTo>
                  <a:pt x="352978" y="1286562"/>
                </a:lnTo>
                <a:lnTo>
                  <a:pt x="391757" y="1253419"/>
                </a:lnTo>
                <a:lnTo>
                  <a:pt x="430437" y="1220123"/>
                </a:lnTo>
                <a:lnTo>
                  <a:pt x="469017" y="1186676"/>
                </a:lnTo>
                <a:lnTo>
                  <a:pt x="507492" y="1153078"/>
                </a:lnTo>
                <a:lnTo>
                  <a:pt x="545860" y="1119329"/>
                </a:lnTo>
                <a:lnTo>
                  <a:pt x="584118" y="1085429"/>
                </a:lnTo>
                <a:lnTo>
                  <a:pt x="622264" y="1051380"/>
                </a:lnTo>
                <a:lnTo>
                  <a:pt x="660294" y="1017180"/>
                </a:lnTo>
                <a:lnTo>
                  <a:pt x="698206" y="982831"/>
                </a:lnTo>
                <a:lnTo>
                  <a:pt x="735998" y="948332"/>
                </a:lnTo>
                <a:lnTo>
                  <a:pt x="773665" y="913685"/>
                </a:lnTo>
                <a:lnTo>
                  <a:pt x="811206" y="878889"/>
                </a:lnTo>
                <a:lnTo>
                  <a:pt x="848617" y="843944"/>
                </a:lnTo>
                <a:lnTo>
                  <a:pt x="885896" y="808852"/>
                </a:lnTo>
                <a:lnTo>
                  <a:pt x="923040" y="773611"/>
                </a:lnTo>
                <a:lnTo>
                  <a:pt x="960046" y="738224"/>
                </a:lnTo>
                <a:lnTo>
                  <a:pt x="996911" y="702689"/>
                </a:lnTo>
                <a:lnTo>
                  <a:pt x="1033633" y="667008"/>
                </a:lnTo>
                <a:lnTo>
                  <a:pt x="1070208" y="631180"/>
                </a:lnTo>
                <a:lnTo>
                  <a:pt x="1106635" y="595206"/>
                </a:lnTo>
                <a:lnTo>
                  <a:pt x="1142909" y="559086"/>
                </a:lnTo>
                <a:lnTo>
                  <a:pt x="1179028" y="522820"/>
                </a:lnTo>
                <a:lnTo>
                  <a:pt x="1214990" y="486410"/>
                </a:lnTo>
                <a:lnTo>
                  <a:pt x="1250792" y="449854"/>
                </a:lnTo>
                <a:lnTo>
                  <a:pt x="1286430" y="413154"/>
                </a:lnTo>
                <a:lnTo>
                  <a:pt x="1321903" y="376310"/>
                </a:lnTo>
                <a:lnTo>
                  <a:pt x="1357206" y="339321"/>
                </a:lnTo>
                <a:lnTo>
                  <a:pt x="1392338" y="302189"/>
                </a:lnTo>
                <a:lnTo>
                  <a:pt x="1427295" y="264914"/>
                </a:lnTo>
                <a:lnTo>
                  <a:pt x="1462075" y="227495"/>
                </a:lnTo>
                <a:lnTo>
                  <a:pt x="1496675" y="189934"/>
                </a:lnTo>
                <a:lnTo>
                  <a:pt x="1531092" y="152231"/>
                </a:lnTo>
                <a:lnTo>
                  <a:pt x="1565323" y="114385"/>
                </a:lnTo>
                <a:lnTo>
                  <a:pt x="1599366" y="76398"/>
                </a:lnTo>
                <a:lnTo>
                  <a:pt x="1633217" y="38269"/>
                </a:lnTo>
                <a:lnTo>
                  <a:pt x="1666875"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 name="Google Shape;9;p12"/>
          <p:cNvSpPr/>
          <p:nvPr/>
        </p:nvSpPr>
        <p:spPr>
          <a:xfrm>
            <a:off x="10641012" y="5408612"/>
            <a:ext cx="1525905" cy="1435100"/>
          </a:xfrm>
          <a:custGeom>
            <a:rect b="b" l="l" r="r" t="t"/>
            <a:pathLst>
              <a:path extrusionOk="0" h="1435100" w="1525904">
                <a:moveTo>
                  <a:pt x="0" y="1435100"/>
                </a:moveTo>
                <a:lnTo>
                  <a:pt x="39600" y="1403034"/>
                </a:lnTo>
                <a:lnTo>
                  <a:pt x="79114" y="1370817"/>
                </a:lnTo>
                <a:lnTo>
                  <a:pt x="118538" y="1338447"/>
                </a:lnTo>
                <a:lnTo>
                  <a:pt x="157869" y="1305927"/>
                </a:lnTo>
                <a:lnTo>
                  <a:pt x="197106" y="1273255"/>
                </a:lnTo>
                <a:lnTo>
                  <a:pt x="236246" y="1240433"/>
                </a:lnTo>
                <a:lnTo>
                  <a:pt x="275286" y="1207460"/>
                </a:lnTo>
                <a:lnTo>
                  <a:pt x="314223" y="1174338"/>
                </a:lnTo>
                <a:lnTo>
                  <a:pt x="353056" y="1141067"/>
                </a:lnTo>
                <a:lnTo>
                  <a:pt x="391782" y="1107646"/>
                </a:lnTo>
                <a:lnTo>
                  <a:pt x="430398" y="1074077"/>
                </a:lnTo>
                <a:lnTo>
                  <a:pt x="468902" y="1040360"/>
                </a:lnTo>
                <a:lnTo>
                  <a:pt x="507292" y="1006495"/>
                </a:lnTo>
                <a:lnTo>
                  <a:pt x="545564" y="972483"/>
                </a:lnTo>
                <a:lnTo>
                  <a:pt x="583717" y="938324"/>
                </a:lnTo>
                <a:lnTo>
                  <a:pt x="621748" y="904019"/>
                </a:lnTo>
                <a:lnTo>
                  <a:pt x="659654" y="869567"/>
                </a:lnTo>
                <a:lnTo>
                  <a:pt x="697433" y="834970"/>
                </a:lnTo>
                <a:lnTo>
                  <a:pt x="735083" y="800228"/>
                </a:lnTo>
                <a:lnTo>
                  <a:pt x="772601" y="765341"/>
                </a:lnTo>
                <a:lnTo>
                  <a:pt x="809984" y="730310"/>
                </a:lnTo>
                <a:lnTo>
                  <a:pt x="847230" y="695134"/>
                </a:lnTo>
                <a:lnTo>
                  <a:pt x="884337" y="659815"/>
                </a:lnTo>
                <a:lnTo>
                  <a:pt x="921302" y="624353"/>
                </a:lnTo>
                <a:lnTo>
                  <a:pt x="958122" y="588749"/>
                </a:lnTo>
                <a:lnTo>
                  <a:pt x="994796" y="553002"/>
                </a:lnTo>
                <a:lnTo>
                  <a:pt x="1031320" y="517113"/>
                </a:lnTo>
                <a:lnTo>
                  <a:pt x="1067693" y="481082"/>
                </a:lnTo>
                <a:lnTo>
                  <a:pt x="1103911" y="444911"/>
                </a:lnTo>
                <a:lnTo>
                  <a:pt x="1139972" y="408598"/>
                </a:lnTo>
                <a:lnTo>
                  <a:pt x="1175874" y="372146"/>
                </a:lnTo>
                <a:lnTo>
                  <a:pt x="1211615" y="335554"/>
                </a:lnTo>
                <a:lnTo>
                  <a:pt x="1247191" y="298822"/>
                </a:lnTo>
                <a:lnTo>
                  <a:pt x="1282600" y="261951"/>
                </a:lnTo>
                <a:lnTo>
                  <a:pt x="1317840" y="224942"/>
                </a:lnTo>
                <a:lnTo>
                  <a:pt x="1352908" y="187795"/>
                </a:lnTo>
                <a:lnTo>
                  <a:pt x="1387802" y="150510"/>
                </a:lnTo>
                <a:lnTo>
                  <a:pt x="1422520" y="113087"/>
                </a:lnTo>
                <a:lnTo>
                  <a:pt x="1457058" y="75528"/>
                </a:lnTo>
                <a:lnTo>
                  <a:pt x="1491415" y="37832"/>
                </a:lnTo>
                <a:lnTo>
                  <a:pt x="1525588"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0" name="Google Shape;10;p12"/>
          <p:cNvPicPr preferRelativeResize="0"/>
          <p:nvPr/>
        </p:nvPicPr>
        <p:blipFill rotWithShape="1">
          <a:blip r:embed="rId1">
            <a:alphaModFix/>
          </a:blip>
          <a:srcRect b="0" l="0" r="0" t="0"/>
          <a:stretch/>
        </p:blipFill>
        <p:spPr>
          <a:xfrm>
            <a:off x="0" y="-6350"/>
            <a:ext cx="5173662" cy="6856413"/>
          </a:xfrm>
          <a:prstGeom prst="rect">
            <a:avLst/>
          </a:prstGeom>
          <a:noFill/>
          <a:ln>
            <a:noFill/>
          </a:ln>
        </p:spPr>
      </p:pic>
      <p:sp>
        <p:nvSpPr>
          <p:cNvPr id="11" name="Google Shape;11;p12"/>
          <p:cNvSpPr/>
          <p:nvPr/>
        </p:nvSpPr>
        <p:spPr>
          <a:xfrm>
            <a:off x="10802937" y="5518150"/>
            <a:ext cx="1363980" cy="1325880"/>
          </a:xfrm>
          <a:custGeom>
            <a:rect b="b" l="l" r="r" t="t"/>
            <a:pathLst>
              <a:path extrusionOk="0" h="1325879" w="1363979">
                <a:moveTo>
                  <a:pt x="0" y="1325563"/>
                </a:moveTo>
                <a:lnTo>
                  <a:pt x="38868" y="1292360"/>
                </a:lnTo>
                <a:lnTo>
                  <a:pt x="77651" y="1259012"/>
                </a:lnTo>
                <a:lnTo>
                  <a:pt x="116346" y="1225518"/>
                </a:lnTo>
                <a:lnTo>
                  <a:pt x="154951" y="1191879"/>
                </a:lnTo>
                <a:lnTo>
                  <a:pt x="193464" y="1158093"/>
                </a:lnTo>
                <a:lnTo>
                  <a:pt x="231882" y="1124162"/>
                </a:lnTo>
                <a:lnTo>
                  <a:pt x="270203" y="1090085"/>
                </a:lnTo>
                <a:lnTo>
                  <a:pt x="308425" y="1055863"/>
                </a:lnTo>
                <a:lnTo>
                  <a:pt x="346546" y="1021494"/>
                </a:lnTo>
                <a:lnTo>
                  <a:pt x="384564" y="986980"/>
                </a:lnTo>
                <a:lnTo>
                  <a:pt x="422475" y="952320"/>
                </a:lnTo>
                <a:lnTo>
                  <a:pt x="460279" y="917514"/>
                </a:lnTo>
                <a:lnTo>
                  <a:pt x="497972" y="882563"/>
                </a:lnTo>
                <a:lnTo>
                  <a:pt x="535553" y="847466"/>
                </a:lnTo>
                <a:lnTo>
                  <a:pt x="573019" y="812223"/>
                </a:lnTo>
                <a:lnTo>
                  <a:pt x="610367" y="776834"/>
                </a:lnTo>
                <a:lnTo>
                  <a:pt x="647597" y="741299"/>
                </a:lnTo>
                <a:lnTo>
                  <a:pt x="684705" y="705619"/>
                </a:lnTo>
                <a:lnTo>
                  <a:pt x="721689" y="669793"/>
                </a:lnTo>
                <a:lnTo>
                  <a:pt x="758547" y="633821"/>
                </a:lnTo>
                <a:lnTo>
                  <a:pt x="795277" y="597704"/>
                </a:lnTo>
                <a:lnTo>
                  <a:pt x="831876" y="561441"/>
                </a:lnTo>
                <a:lnTo>
                  <a:pt x="868342" y="525031"/>
                </a:lnTo>
                <a:lnTo>
                  <a:pt x="904673" y="488477"/>
                </a:lnTo>
                <a:lnTo>
                  <a:pt x="940867" y="451776"/>
                </a:lnTo>
                <a:lnTo>
                  <a:pt x="976921" y="414930"/>
                </a:lnTo>
                <a:lnTo>
                  <a:pt x="1012834" y="377938"/>
                </a:lnTo>
                <a:lnTo>
                  <a:pt x="1048602" y="340800"/>
                </a:lnTo>
                <a:lnTo>
                  <a:pt x="1084224" y="303516"/>
                </a:lnTo>
                <a:lnTo>
                  <a:pt x="1119698" y="266087"/>
                </a:lnTo>
                <a:lnTo>
                  <a:pt x="1155020" y="228511"/>
                </a:lnTo>
                <a:lnTo>
                  <a:pt x="1190190" y="190791"/>
                </a:lnTo>
                <a:lnTo>
                  <a:pt x="1225204" y="152924"/>
                </a:lnTo>
                <a:lnTo>
                  <a:pt x="1260061" y="114911"/>
                </a:lnTo>
                <a:lnTo>
                  <a:pt x="1294758" y="76753"/>
                </a:lnTo>
                <a:lnTo>
                  <a:pt x="1329292" y="38449"/>
                </a:lnTo>
                <a:lnTo>
                  <a:pt x="1363663"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 name="Google Shape;12;p12"/>
          <p:cNvSpPr/>
          <p:nvPr/>
        </p:nvSpPr>
        <p:spPr>
          <a:xfrm>
            <a:off x="10979150" y="5694362"/>
            <a:ext cx="1187450" cy="1149350"/>
          </a:xfrm>
          <a:custGeom>
            <a:rect b="b" l="l" r="r" t="t"/>
            <a:pathLst>
              <a:path extrusionOk="0" h="1149350" w="1187450">
                <a:moveTo>
                  <a:pt x="0" y="1149350"/>
                </a:moveTo>
                <a:lnTo>
                  <a:pt x="37945" y="1116470"/>
                </a:lnTo>
                <a:lnTo>
                  <a:pt x="75785" y="1083461"/>
                </a:lnTo>
                <a:lnTo>
                  <a:pt x="113517" y="1050323"/>
                </a:lnTo>
                <a:lnTo>
                  <a:pt x="151139" y="1017056"/>
                </a:lnTo>
                <a:lnTo>
                  <a:pt x="188650" y="983661"/>
                </a:lnTo>
                <a:lnTo>
                  <a:pt x="226049" y="950140"/>
                </a:lnTo>
                <a:lnTo>
                  <a:pt x="263333" y="916492"/>
                </a:lnTo>
                <a:lnTo>
                  <a:pt x="300502" y="882719"/>
                </a:lnTo>
                <a:lnTo>
                  <a:pt x="337553" y="848822"/>
                </a:lnTo>
                <a:lnTo>
                  <a:pt x="374485" y="814801"/>
                </a:lnTo>
                <a:lnTo>
                  <a:pt x="411297" y="780657"/>
                </a:lnTo>
                <a:lnTo>
                  <a:pt x="447987" y="746391"/>
                </a:lnTo>
                <a:lnTo>
                  <a:pt x="484553" y="712003"/>
                </a:lnTo>
                <a:lnTo>
                  <a:pt x="520993" y="677496"/>
                </a:lnTo>
                <a:lnTo>
                  <a:pt x="557307" y="642868"/>
                </a:lnTo>
                <a:lnTo>
                  <a:pt x="593492" y="608121"/>
                </a:lnTo>
                <a:lnTo>
                  <a:pt x="629548" y="573257"/>
                </a:lnTo>
                <a:lnTo>
                  <a:pt x="665471" y="538274"/>
                </a:lnTo>
                <a:lnTo>
                  <a:pt x="701261" y="503176"/>
                </a:lnTo>
                <a:lnTo>
                  <a:pt x="736917" y="467961"/>
                </a:lnTo>
                <a:lnTo>
                  <a:pt x="772436" y="432632"/>
                </a:lnTo>
                <a:lnTo>
                  <a:pt x="807817" y="397188"/>
                </a:lnTo>
                <a:lnTo>
                  <a:pt x="843059" y="361631"/>
                </a:lnTo>
                <a:lnTo>
                  <a:pt x="878159" y="325962"/>
                </a:lnTo>
                <a:lnTo>
                  <a:pt x="913117" y="290180"/>
                </a:lnTo>
                <a:lnTo>
                  <a:pt x="947930" y="254288"/>
                </a:lnTo>
                <a:lnTo>
                  <a:pt x="982598" y="218285"/>
                </a:lnTo>
                <a:lnTo>
                  <a:pt x="1017118" y="182173"/>
                </a:lnTo>
                <a:lnTo>
                  <a:pt x="1051489" y="145953"/>
                </a:lnTo>
                <a:lnTo>
                  <a:pt x="1085709" y="109624"/>
                </a:lnTo>
                <a:lnTo>
                  <a:pt x="1119777" y="73189"/>
                </a:lnTo>
                <a:lnTo>
                  <a:pt x="1153691" y="36647"/>
                </a:lnTo>
                <a:lnTo>
                  <a:pt x="118745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 name="Google Shape;13;p12"/>
          <p:cNvSpPr/>
          <p:nvPr/>
        </p:nvSpPr>
        <p:spPr>
          <a:xfrm>
            <a:off x="11287125" y="6049962"/>
            <a:ext cx="879475" cy="793750"/>
          </a:xfrm>
          <a:custGeom>
            <a:rect b="b" l="l" r="r" t="t"/>
            <a:pathLst>
              <a:path extrusionOk="0" h="793750" w="879475">
                <a:moveTo>
                  <a:pt x="0" y="793750"/>
                </a:moveTo>
                <a:lnTo>
                  <a:pt x="39037" y="760811"/>
                </a:lnTo>
                <a:lnTo>
                  <a:pt x="78018" y="727714"/>
                </a:lnTo>
                <a:lnTo>
                  <a:pt x="116941" y="694459"/>
                </a:lnTo>
                <a:lnTo>
                  <a:pt x="155802" y="661050"/>
                </a:lnTo>
                <a:lnTo>
                  <a:pt x="194601" y="627488"/>
                </a:lnTo>
                <a:lnTo>
                  <a:pt x="233333" y="593777"/>
                </a:lnTo>
                <a:lnTo>
                  <a:pt x="271998" y="559918"/>
                </a:lnTo>
                <a:lnTo>
                  <a:pt x="310593" y="525913"/>
                </a:lnTo>
                <a:lnTo>
                  <a:pt x="349114" y="491765"/>
                </a:lnTo>
                <a:lnTo>
                  <a:pt x="387561" y="457477"/>
                </a:lnTo>
                <a:lnTo>
                  <a:pt x="425930" y="423051"/>
                </a:lnTo>
                <a:lnTo>
                  <a:pt x="464220" y="388488"/>
                </a:lnTo>
                <a:lnTo>
                  <a:pt x="502427" y="353792"/>
                </a:lnTo>
                <a:lnTo>
                  <a:pt x="540551" y="318965"/>
                </a:lnTo>
                <a:lnTo>
                  <a:pt x="578587" y="284009"/>
                </a:lnTo>
                <a:lnTo>
                  <a:pt x="616534" y="248926"/>
                </a:lnTo>
                <a:lnTo>
                  <a:pt x="654390" y="213719"/>
                </a:lnTo>
                <a:lnTo>
                  <a:pt x="692152" y="178390"/>
                </a:lnTo>
                <a:lnTo>
                  <a:pt x="729818" y="142942"/>
                </a:lnTo>
                <a:lnTo>
                  <a:pt x="767386" y="107376"/>
                </a:lnTo>
                <a:lnTo>
                  <a:pt x="804853" y="71696"/>
                </a:lnTo>
                <a:lnTo>
                  <a:pt x="842216" y="35903"/>
                </a:lnTo>
                <a:lnTo>
                  <a:pt x="879475"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 name="Google Shape;14;p12"/>
          <p:cNvSpPr txBox="1"/>
          <p:nvPr>
            <p:ph type="title"/>
          </p:nvPr>
        </p:nvSpPr>
        <p:spPr>
          <a:xfrm>
            <a:off x="2611541" y="511515"/>
            <a:ext cx="8990965" cy="3543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95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2"/>
          <p:cNvSpPr txBox="1"/>
          <p:nvPr>
            <p:ph idx="1" type="body"/>
          </p:nvPr>
        </p:nvSpPr>
        <p:spPr>
          <a:xfrm>
            <a:off x="2729864" y="2080259"/>
            <a:ext cx="7783195" cy="228409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6" name="Google Shape;16;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 name="Shape 68"/>
        <p:cNvGrpSpPr/>
        <p:nvPr/>
      </p:nvGrpSpPr>
      <p:grpSpPr>
        <a:xfrm>
          <a:off x="0" y="0"/>
          <a:ext cx="0" cy="0"/>
          <a:chOff x="0" y="0"/>
          <a:chExt cx="0" cy="0"/>
        </a:xfrm>
      </p:grpSpPr>
      <p:grpSp>
        <p:nvGrpSpPr>
          <p:cNvPr id="69" name="Google Shape;69;p1"/>
          <p:cNvGrpSpPr/>
          <p:nvPr/>
        </p:nvGrpSpPr>
        <p:grpSpPr>
          <a:xfrm>
            <a:off x="-7410" y="-8266"/>
            <a:ext cx="12198351" cy="6872662"/>
            <a:chOff x="-7410" y="-8266"/>
            <a:chExt cx="12198351" cy="6872662"/>
          </a:xfrm>
        </p:grpSpPr>
        <p:pic>
          <p:nvPicPr>
            <p:cNvPr id="70" name="Google Shape;70;p1"/>
            <p:cNvPicPr preferRelativeResize="0"/>
            <p:nvPr/>
          </p:nvPicPr>
          <p:blipFill rotWithShape="1">
            <a:blip r:embed="rId3">
              <a:alphaModFix/>
            </a:blip>
            <a:srcRect b="0" l="0" r="0" t="0"/>
            <a:stretch/>
          </p:blipFill>
          <p:spPr>
            <a:xfrm>
              <a:off x="-7410" y="-8266"/>
              <a:ext cx="12198351" cy="6872662"/>
            </a:xfrm>
            <a:prstGeom prst="rect">
              <a:avLst/>
            </a:prstGeom>
            <a:noFill/>
            <a:ln>
              <a:noFill/>
            </a:ln>
          </p:spPr>
        </p:pic>
        <p:pic>
          <p:nvPicPr>
            <p:cNvPr id="71" name="Google Shape;71;p1"/>
            <p:cNvPicPr preferRelativeResize="0"/>
            <p:nvPr/>
          </p:nvPicPr>
          <p:blipFill rotWithShape="1">
            <a:blip r:embed="rId4">
              <a:alphaModFix/>
            </a:blip>
            <a:srcRect b="0" l="0" r="0" t="0"/>
            <a:stretch/>
          </p:blipFill>
          <p:spPr>
            <a:xfrm>
              <a:off x="6096" y="15239"/>
              <a:ext cx="12182856" cy="6842759"/>
            </a:xfrm>
            <a:prstGeom prst="rect">
              <a:avLst/>
            </a:prstGeom>
            <a:noFill/>
            <a:ln>
              <a:noFill/>
            </a:ln>
          </p:spPr>
        </p:pic>
        <p:sp>
          <p:nvSpPr>
            <p:cNvPr id="72" name="Google Shape;72;p1"/>
            <p:cNvSpPr/>
            <p:nvPr/>
          </p:nvSpPr>
          <p:spPr>
            <a:xfrm>
              <a:off x="2242532" y="653787"/>
              <a:ext cx="7872095" cy="5567045"/>
            </a:xfrm>
            <a:custGeom>
              <a:rect b="b" l="l" r="r" t="t"/>
              <a:pathLst>
                <a:path extrusionOk="0" h="5567045" w="7872095">
                  <a:moveTo>
                    <a:pt x="3240407" y="0"/>
                  </a:moveTo>
                  <a:lnTo>
                    <a:pt x="3187687" y="293"/>
                  </a:lnTo>
                  <a:lnTo>
                    <a:pt x="3135179" y="1107"/>
                  </a:lnTo>
                  <a:lnTo>
                    <a:pt x="3082888" y="2437"/>
                  </a:lnTo>
                  <a:lnTo>
                    <a:pt x="3030821" y="4281"/>
                  </a:lnTo>
                  <a:lnTo>
                    <a:pt x="2978983" y="6638"/>
                  </a:lnTo>
                  <a:lnTo>
                    <a:pt x="2927381" y="9504"/>
                  </a:lnTo>
                  <a:lnTo>
                    <a:pt x="2876021" y="12879"/>
                  </a:lnTo>
                  <a:lnTo>
                    <a:pt x="2824909" y="16758"/>
                  </a:lnTo>
                  <a:lnTo>
                    <a:pt x="2774051" y="21141"/>
                  </a:lnTo>
                  <a:lnTo>
                    <a:pt x="2723454" y="26024"/>
                  </a:lnTo>
                  <a:lnTo>
                    <a:pt x="2673122" y="31405"/>
                  </a:lnTo>
                  <a:lnTo>
                    <a:pt x="2623063" y="37282"/>
                  </a:lnTo>
                  <a:lnTo>
                    <a:pt x="2573283" y="43653"/>
                  </a:lnTo>
                  <a:lnTo>
                    <a:pt x="2523787" y="50515"/>
                  </a:lnTo>
                  <a:lnTo>
                    <a:pt x="2474581" y="57867"/>
                  </a:lnTo>
                  <a:lnTo>
                    <a:pt x="2425673" y="65705"/>
                  </a:lnTo>
                  <a:lnTo>
                    <a:pt x="2377067" y="74027"/>
                  </a:lnTo>
                  <a:lnTo>
                    <a:pt x="2328770" y="82831"/>
                  </a:lnTo>
                  <a:lnTo>
                    <a:pt x="2280789" y="92115"/>
                  </a:lnTo>
                  <a:lnTo>
                    <a:pt x="2233128" y="101877"/>
                  </a:lnTo>
                  <a:lnTo>
                    <a:pt x="2185795" y="112113"/>
                  </a:lnTo>
                  <a:lnTo>
                    <a:pt x="2138795" y="122822"/>
                  </a:lnTo>
                  <a:lnTo>
                    <a:pt x="2092134" y="134002"/>
                  </a:lnTo>
                  <a:lnTo>
                    <a:pt x="2045819" y="145650"/>
                  </a:lnTo>
                  <a:lnTo>
                    <a:pt x="1999856" y="157763"/>
                  </a:lnTo>
                  <a:lnTo>
                    <a:pt x="1954250" y="170340"/>
                  </a:lnTo>
                  <a:lnTo>
                    <a:pt x="1909008" y="183378"/>
                  </a:lnTo>
                  <a:lnTo>
                    <a:pt x="1864136" y="196875"/>
                  </a:lnTo>
                  <a:lnTo>
                    <a:pt x="1819640" y="210828"/>
                  </a:lnTo>
                  <a:lnTo>
                    <a:pt x="1775527" y="225236"/>
                  </a:lnTo>
                  <a:lnTo>
                    <a:pt x="1731801" y="240095"/>
                  </a:lnTo>
                  <a:lnTo>
                    <a:pt x="1688470" y="255404"/>
                  </a:lnTo>
                  <a:lnTo>
                    <a:pt x="1645539" y="271160"/>
                  </a:lnTo>
                  <a:lnTo>
                    <a:pt x="1603015" y="287360"/>
                  </a:lnTo>
                  <a:lnTo>
                    <a:pt x="1560903" y="304004"/>
                  </a:lnTo>
                  <a:lnTo>
                    <a:pt x="1519210" y="321087"/>
                  </a:lnTo>
                  <a:lnTo>
                    <a:pt x="1477942" y="338609"/>
                  </a:lnTo>
                  <a:lnTo>
                    <a:pt x="1437104" y="356566"/>
                  </a:lnTo>
                  <a:lnTo>
                    <a:pt x="1396704" y="374956"/>
                  </a:lnTo>
                  <a:lnTo>
                    <a:pt x="1356747" y="393777"/>
                  </a:lnTo>
                  <a:lnTo>
                    <a:pt x="1317239" y="413027"/>
                  </a:lnTo>
                  <a:lnTo>
                    <a:pt x="1278186" y="432703"/>
                  </a:lnTo>
                  <a:lnTo>
                    <a:pt x="1239595" y="452803"/>
                  </a:lnTo>
                  <a:lnTo>
                    <a:pt x="1201471" y="473325"/>
                  </a:lnTo>
                  <a:lnTo>
                    <a:pt x="1163821" y="494266"/>
                  </a:lnTo>
                  <a:lnTo>
                    <a:pt x="1126650" y="515624"/>
                  </a:lnTo>
                  <a:lnTo>
                    <a:pt x="1089965" y="537397"/>
                  </a:lnTo>
                  <a:lnTo>
                    <a:pt x="1053772" y="559582"/>
                  </a:lnTo>
                  <a:lnTo>
                    <a:pt x="1018077" y="582177"/>
                  </a:lnTo>
                  <a:lnTo>
                    <a:pt x="982886" y="605179"/>
                  </a:lnTo>
                  <a:lnTo>
                    <a:pt x="948205" y="628588"/>
                  </a:lnTo>
                  <a:lnTo>
                    <a:pt x="914041" y="652399"/>
                  </a:lnTo>
                  <a:lnTo>
                    <a:pt x="880398" y="676610"/>
                  </a:lnTo>
                  <a:lnTo>
                    <a:pt x="847285" y="701221"/>
                  </a:lnTo>
                  <a:lnTo>
                    <a:pt x="814706" y="726227"/>
                  </a:lnTo>
                  <a:lnTo>
                    <a:pt x="782667" y="751627"/>
                  </a:lnTo>
                  <a:lnTo>
                    <a:pt x="751175" y="777419"/>
                  </a:lnTo>
                  <a:lnTo>
                    <a:pt x="720236" y="803599"/>
                  </a:lnTo>
                  <a:lnTo>
                    <a:pt x="689856" y="830167"/>
                  </a:lnTo>
                  <a:lnTo>
                    <a:pt x="660041" y="857119"/>
                  </a:lnTo>
                  <a:lnTo>
                    <a:pt x="630797" y="884453"/>
                  </a:lnTo>
                  <a:lnTo>
                    <a:pt x="602131" y="912167"/>
                  </a:lnTo>
                  <a:lnTo>
                    <a:pt x="574047" y="940258"/>
                  </a:lnTo>
                  <a:lnTo>
                    <a:pt x="546554" y="968724"/>
                  </a:lnTo>
                  <a:lnTo>
                    <a:pt x="519655" y="997564"/>
                  </a:lnTo>
                  <a:lnTo>
                    <a:pt x="493358" y="1026774"/>
                  </a:lnTo>
                  <a:lnTo>
                    <a:pt x="467669" y="1056352"/>
                  </a:lnTo>
                  <a:lnTo>
                    <a:pt x="442594" y="1086296"/>
                  </a:lnTo>
                  <a:lnTo>
                    <a:pt x="418139" y="1116603"/>
                  </a:lnTo>
                  <a:lnTo>
                    <a:pt x="394310" y="1147272"/>
                  </a:lnTo>
                  <a:lnTo>
                    <a:pt x="371112" y="1178300"/>
                  </a:lnTo>
                  <a:lnTo>
                    <a:pt x="348553" y="1209684"/>
                  </a:lnTo>
                  <a:lnTo>
                    <a:pt x="326639" y="1241423"/>
                  </a:lnTo>
                  <a:lnTo>
                    <a:pt x="305374" y="1273513"/>
                  </a:lnTo>
                  <a:lnTo>
                    <a:pt x="284767" y="1305954"/>
                  </a:lnTo>
                  <a:lnTo>
                    <a:pt x="264821" y="1338741"/>
                  </a:lnTo>
                  <a:lnTo>
                    <a:pt x="245545" y="1371873"/>
                  </a:lnTo>
                  <a:lnTo>
                    <a:pt x="226943" y="1405349"/>
                  </a:lnTo>
                  <a:lnTo>
                    <a:pt x="209022" y="1439164"/>
                  </a:lnTo>
                  <a:lnTo>
                    <a:pt x="191788" y="1473317"/>
                  </a:lnTo>
                  <a:lnTo>
                    <a:pt x="175247" y="1507806"/>
                  </a:lnTo>
                  <a:lnTo>
                    <a:pt x="159406" y="1542629"/>
                  </a:lnTo>
                  <a:lnTo>
                    <a:pt x="144269" y="1577782"/>
                  </a:lnTo>
                  <a:lnTo>
                    <a:pt x="129844" y="1613265"/>
                  </a:lnTo>
                  <a:lnTo>
                    <a:pt x="116137" y="1649073"/>
                  </a:lnTo>
                  <a:lnTo>
                    <a:pt x="103153" y="1685206"/>
                  </a:lnTo>
                  <a:lnTo>
                    <a:pt x="90899" y="1721660"/>
                  </a:lnTo>
                  <a:lnTo>
                    <a:pt x="79380" y="1758434"/>
                  </a:lnTo>
                  <a:lnTo>
                    <a:pt x="68603" y="1795525"/>
                  </a:lnTo>
                  <a:lnTo>
                    <a:pt x="58575" y="1832931"/>
                  </a:lnTo>
                  <a:lnTo>
                    <a:pt x="49300" y="1870649"/>
                  </a:lnTo>
                  <a:lnTo>
                    <a:pt x="40813" y="1908552"/>
                  </a:lnTo>
                  <a:lnTo>
                    <a:pt x="33140" y="1946511"/>
                  </a:lnTo>
                  <a:lnTo>
                    <a:pt x="26277" y="1984522"/>
                  </a:lnTo>
                  <a:lnTo>
                    <a:pt x="20220" y="2022578"/>
                  </a:lnTo>
                  <a:lnTo>
                    <a:pt x="14964" y="2060676"/>
                  </a:lnTo>
                  <a:lnTo>
                    <a:pt x="10504" y="2098811"/>
                  </a:lnTo>
                  <a:lnTo>
                    <a:pt x="6836" y="2136978"/>
                  </a:lnTo>
                  <a:lnTo>
                    <a:pt x="3957" y="2175172"/>
                  </a:lnTo>
                  <a:lnTo>
                    <a:pt x="1860" y="2213388"/>
                  </a:lnTo>
                  <a:lnTo>
                    <a:pt x="543" y="2251622"/>
                  </a:lnTo>
                  <a:lnTo>
                    <a:pt x="0" y="2289868"/>
                  </a:lnTo>
                  <a:lnTo>
                    <a:pt x="226" y="2328123"/>
                  </a:lnTo>
                  <a:lnTo>
                    <a:pt x="1219" y="2366380"/>
                  </a:lnTo>
                  <a:lnTo>
                    <a:pt x="2973" y="2404636"/>
                  </a:lnTo>
                  <a:lnTo>
                    <a:pt x="5483" y="2442886"/>
                  </a:lnTo>
                  <a:lnTo>
                    <a:pt x="8746" y="2481125"/>
                  </a:lnTo>
                  <a:lnTo>
                    <a:pt x="12757" y="2519347"/>
                  </a:lnTo>
                  <a:lnTo>
                    <a:pt x="17511" y="2557549"/>
                  </a:lnTo>
                  <a:lnTo>
                    <a:pt x="23005" y="2595725"/>
                  </a:lnTo>
                  <a:lnTo>
                    <a:pt x="29233" y="2633870"/>
                  </a:lnTo>
                  <a:lnTo>
                    <a:pt x="36191" y="2671981"/>
                  </a:lnTo>
                  <a:lnTo>
                    <a:pt x="43875" y="2710051"/>
                  </a:lnTo>
                  <a:lnTo>
                    <a:pt x="52280" y="2748077"/>
                  </a:lnTo>
                  <a:lnTo>
                    <a:pt x="61403" y="2786053"/>
                  </a:lnTo>
                  <a:lnTo>
                    <a:pt x="71238" y="2823975"/>
                  </a:lnTo>
                  <a:lnTo>
                    <a:pt x="81781" y="2861838"/>
                  </a:lnTo>
                  <a:lnTo>
                    <a:pt x="93027" y="2899637"/>
                  </a:lnTo>
                  <a:lnTo>
                    <a:pt x="104973" y="2937367"/>
                  </a:lnTo>
                  <a:lnTo>
                    <a:pt x="117614" y="2975023"/>
                  </a:lnTo>
                  <a:lnTo>
                    <a:pt x="130945" y="3012601"/>
                  </a:lnTo>
                  <a:lnTo>
                    <a:pt x="144962" y="3050096"/>
                  </a:lnTo>
                  <a:lnTo>
                    <a:pt x="159660" y="3087503"/>
                  </a:lnTo>
                  <a:lnTo>
                    <a:pt x="175036" y="3124818"/>
                  </a:lnTo>
                  <a:lnTo>
                    <a:pt x="191085" y="3162034"/>
                  </a:lnTo>
                  <a:lnTo>
                    <a:pt x="207801" y="3199149"/>
                  </a:lnTo>
                  <a:lnTo>
                    <a:pt x="225182" y="3236156"/>
                  </a:lnTo>
                  <a:lnTo>
                    <a:pt x="243222" y="3273052"/>
                  </a:lnTo>
                  <a:lnTo>
                    <a:pt x="261916" y="3309831"/>
                  </a:lnTo>
                  <a:lnTo>
                    <a:pt x="281262" y="3346488"/>
                  </a:lnTo>
                  <a:lnTo>
                    <a:pt x="301253" y="3383019"/>
                  </a:lnTo>
                  <a:lnTo>
                    <a:pt x="321887" y="3419419"/>
                  </a:lnTo>
                  <a:lnTo>
                    <a:pt x="343157" y="3455684"/>
                  </a:lnTo>
                  <a:lnTo>
                    <a:pt x="365061" y="3491807"/>
                  </a:lnTo>
                  <a:lnTo>
                    <a:pt x="387593" y="3527785"/>
                  </a:lnTo>
                  <a:lnTo>
                    <a:pt x="410748" y="3563613"/>
                  </a:lnTo>
                  <a:lnTo>
                    <a:pt x="434524" y="3599286"/>
                  </a:lnTo>
                  <a:lnTo>
                    <a:pt x="458914" y="3634799"/>
                  </a:lnTo>
                  <a:lnTo>
                    <a:pt x="483916" y="3670147"/>
                  </a:lnTo>
                  <a:lnTo>
                    <a:pt x="509523" y="3705326"/>
                  </a:lnTo>
                  <a:lnTo>
                    <a:pt x="535733" y="3740331"/>
                  </a:lnTo>
                  <a:lnTo>
                    <a:pt x="562540" y="3775156"/>
                  </a:lnTo>
                  <a:lnTo>
                    <a:pt x="589940" y="3809798"/>
                  </a:lnTo>
                  <a:lnTo>
                    <a:pt x="617929" y="3844251"/>
                  </a:lnTo>
                  <a:lnTo>
                    <a:pt x="646501" y="3878511"/>
                  </a:lnTo>
                  <a:lnTo>
                    <a:pt x="675654" y="3912573"/>
                  </a:lnTo>
                  <a:lnTo>
                    <a:pt x="705382" y="3946432"/>
                  </a:lnTo>
                  <a:lnTo>
                    <a:pt x="735680" y="3980083"/>
                  </a:lnTo>
                  <a:lnTo>
                    <a:pt x="766546" y="4013521"/>
                  </a:lnTo>
                  <a:lnTo>
                    <a:pt x="797973" y="4046742"/>
                  </a:lnTo>
                  <a:lnTo>
                    <a:pt x="829958" y="4079741"/>
                  </a:lnTo>
                  <a:lnTo>
                    <a:pt x="862496" y="4112512"/>
                  </a:lnTo>
                  <a:lnTo>
                    <a:pt x="895583" y="4145052"/>
                  </a:lnTo>
                  <a:lnTo>
                    <a:pt x="929214" y="4177356"/>
                  </a:lnTo>
                  <a:lnTo>
                    <a:pt x="963385" y="4209418"/>
                  </a:lnTo>
                  <a:lnTo>
                    <a:pt x="998092" y="4241234"/>
                  </a:lnTo>
                  <a:lnTo>
                    <a:pt x="1033330" y="4272799"/>
                  </a:lnTo>
                  <a:lnTo>
                    <a:pt x="1069094" y="4304109"/>
                  </a:lnTo>
                  <a:lnTo>
                    <a:pt x="1105381" y="4335158"/>
                  </a:lnTo>
                  <a:lnTo>
                    <a:pt x="1142185" y="4365941"/>
                  </a:lnTo>
                  <a:lnTo>
                    <a:pt x="1179503" y="4396455"/>
                  </a:lnTo>
                  <a:lnTo>
                    <a:pt x="1217329" y="4426693"/>
                  </a:lnTo>
                  <a:lnTo>
                    <a:pt x="1255661" y="4456652"/>
                  </a:lnTo>
                  <a:lnTo>
                    <a:pt x="1294492" y="4486326"/>
                  </a:lnTo>
                  <a:lnTo>
                    <a:pt x="1333819" y="4515711"/>
                  </a:lnTo>
                  <a:lnTo>
                    <a:pt x="1373637" y="4544802"/>
                  </a:lnTo>
                  <a:lnTo>
                    <a:pt x="1413942" y="4573595"/>
                  </a:lnTo>
                  <a:lnTo>
                    <a:pt x="1454730" y="4602083"/>
                  </a:lnTo>
                  <a:lnTo>
                    <a:pt x="1495995" y="4630263"/>
                  </a:lnTo>
                  <a:lnTo>
                    <a:pt x="1537734" y="4658130"/>
                  </a:lnTo>
                  <a:lnTo>
                    <a:pt x="1579942" y="4685678"/>
                  </a:lnTo>
                  <a:lnTo>
                    <a:pt x="1622615" y="4712904"/>
                  </a:lnTo>
                  <a:lnTo>
                    <a:pt x="1665748" y="4739802"/>
                  </a:lnTo>
                  <a:lnTo>
                    <a:pt x="1709337" y="4766368"/>
                  </a:lnTo>
                  <a:lnTo>
                    <a:pt x="1753377" y="4792597"/>
                  </a:lnTo>
                  <a:lnTo>
                    <a:pt x="1797864" y="4818483"/>
                  </a:lnTo>
                  <a:lnTo>
                    <a:pt x="1842794" y="4844023"/>
                  </a:lnTo>
                  <a:lnTo>
                    <a:pt x="1888162" y="4869211"/>
                  </a:lnTo>
                  <a:lnTo>
                    <a:pt x="1933964" y="4894043"/>
                  </a:lnTo>
                  <a:lnTo>
                    <a:pt x="1980195" y="4918513"/>
                  </a:lnTo>
                  <a:lnTo>
                    <a:pt x="2026850" y="4942618"/>
                  </a:lnTo>
                  <a:lnTo>
                    <a:pt x="2073927" y="4966351"/>
                  </a:lnTo>
                  <a:lnTo>
                    <a:pt x="2121419" y="4989709"/>
                  </a:lnTo>
                  <a:lnTo>
                    <a:pt x="2169323" y="5012687"/>
                  </a:lnTo>
                  <a:lnTo>
                    <a:pt x="2217634" y="5035280"/>
                  </a:lnTo>
                  <a:lnTo>
                    <a:pt x="2266347" y="5057482"/>
                  </a:lnTo>
                  <a:lnTo>
                    <a:pt x="2315459" y="5079290"/>
                  </a:lnTo>
                  <a:lnTo>
                    <a:pt x="2364965" y="5100698"/>
                  </a:lnTo>
                  <a:lnTo>
                    <a:pt x="2414861" y="5121702"/>
                  </a:lnTo>
                  <a:lnTo>
                    <a:pt x="2465141" y="5142297"/>
                  </a:lnTo>
                  <a:lnTo>
                    <a:pt x="2515802" y="5162478"/>
                  </a:lnTo>
                  <a:lnTo>
                    <a:pt x="2566839" y="5182240"/>
                  </a:lnTo>
                  <a:lnTo>
                    <a:pt x="2618248" y="5201578"/>
                  </a:lnTo>
                  <a:lnTo>
                    <a:pt x="2670024" y="5220488"/>
                  </a:lnTo>
                  <a:lnTo>
                    <a:pt x="2722164" y="5238965"/>
                  </a:lnTo>
                  <a:lnTo>
                    <a:pt x="2774661" y="5257005"/>
                  </a:lnTo>
                  <a:lnTo>
                    <a:pt x="2827513" y="5274601"/>
                  </a:lnTo>
                  <a:lnTo>
                    <a:pt x="2880714" y="5291750"/>
                  </a:lnTo>
                  <a:lnTo>
                    <a:pt x="2934261" y="5308447"/>
                  </a:lnTo>
                  <a:lnTo>
                    <a:pt x="2988148" y="5324686"/>
                  </a:lnTo>
                  <a:lnTo>
                    <a:pt x="3042372" y="5340464"/>
                  </a:lnTo>
                  <a:lnTo>
                    <a:pt x="3096927" y="5355775"/>
                  </a:lnTo>
                  <a:lnTo>
                    <a:pt x="3151810" y="5370615"/>
                  </a:lnTo>
                  <a:lnTo>
                    <a:pt x="3207016" y="5384978"/>
                  </a:lnTo>
                  <a:lnTo>
                    <a:pt x="3262541" y="5398860"/>
                  </a:lnTo>
                  <a:lnTo>
                    <a:pt x="3318380" y="5412256"/>
                  </a:lnTo>
                  <a:lnTo>
                    <a:pt x="3374344" y="5425120"/>
                  </a:lnTo>
                  <a:lnTo>
                    <a:pt x="3430244" y="5437409"/>
                  </a:lnTo>
                  <a:lnTo>
                    <a:pt x="3486071" y="5449125"/>
                  </a:lnTo>
                  <a:lnTo>
                    <a:pt x="3541822" y="5460270"/>
                  </a:lnTo>
                  <a:lnTo>
                    <a:pt x="3597489" y="5470848"/>
                  </a:lnTo>
                  <a:lnTo>
                    <a:pt x="3653067" y="5480860"/>
                  </a:lnTo>
                  <a:lnTo>
                    <a:pt x="3708550" y="5490309"/>
                  </a:lnTo>
                  <a:lnTo>
                    <a:pt x="3763930" y="5499197"/>
                  </a:lnTo>
                  <a:lnTo>
                    <a:pt x="3819203" y="5507526"/>
                  </a:lnTo>
                  <a:lnTo>
                    <a:pt x="3874362" y="5515299"/>
                  </a:lnTo>
                  <a:lnTo>
                    <a:pt x="3929402" y="5522517"/>
                  </a:lnTo>
                  <a:lnTo>
                    <a:pt x="3984315" y="5529184"/>
                  </a:lnTo>
                  <a:lnTo>
                    <a:pt x="4039096" y="5535302"/>
                  </a:lnTo>
                  <a:lnTo>
                    <a:pt x="4093738" y="5540872"/>
                  </a:lnTo>
                  <a:lnTo>
                    <a:pt x="4148237" y="5545898"/>
                  </a:lnTo>
                  <a:lnTo>
                    <a:pt x="4202585" y="5550382"/>
                  </a:lnTo>
                  <a:lnTo>
                    <a:pt x="4256776" y="5554325"/>
                  </a:lnTo>
                  <a:lnTo>
                    <a:pt x="4310805" y="5557730"/>
                  </a:lnTo>
                  <a:lnTo>
                    <a:pt x="4364665" y="5560600"/>
                  </a:lnTo>
                  <a:lnTo>
                    <a:pt x="4418350" y="5562937"/>
                  </a:lnTo>
                  <a:lnTo>
                    <a:pt x="4471855" y="5564743"/>
                  </a:lnTo>
                  <a:lnTo>
                    <a:pt x="4525172" y="5566021"/>
                  </a:lnTo>
                  <a:lnTo>
                    <a:pt x="4578296" y="5566772"/>
                  </a:lnTo>
                  <a:lnTo>
                    <a:pt x="4631222" y="5567000"/>
                  </a:lnTo>
                  <a:lnTo>
                    <a:pt x="4683941" y="5566706"/>
                  </a:lnTo>
                  <a:lnTo>
                    <a:pt x="4736450" y="5565893"/>
                  </a:lnTo>
                  <a:lnTo>
                    <a:pt x="4788741" y="5564563"/>
                  </a:lnTo>
                  <a:lnTo>
                    <a:pt x="4840808" y="5562718"/>
                  </a:lnTo>
                  <a:lnTo>
                    <a:pt x="4892645" y="5560361"/>
                  </a:lnTo>
                  <a:lnTo>
                    <a:pt x="4944247" y="5557495"/>
                  </a:lnTo>
                  <a:lnTo>
                    <a:pt x="4995607" y="5554121"/>
                  </a:lnTo>
                  <a:lnTo>
                    <a:pt x="5046719" y="5550241"/>
                  </a:lnTo>
                  <a:lnTo>
                    <a:pt x="5097577" y="5545859"/>
                  </a:lnTo>
                  <a:lnTo>
                    <a:pt x="5148175" y="5540976"/>
                  </a:lnTo>
                  <a:lnTo>
                    <a:pt x="5198506" y="5535594"/>
                  </a:lnTo>
                  <a:lnTo>
                    <a:pt x="5248565" y="5529717"/>
                  </a:lnTo>
                  <a:lnTo>
                    <a:pt x="5298346" y="5523346"/>
                  </a:lnTo>
                  <a:lnTo>
                    <a:pt x="5347842" y="5516484"/>
                  </a:lnTo>
                  <a:lnTo>
                    <a:pt x="5397047" y="5509132"/>
                  </a:lnTo>
                  <a:lnTo>
                    <a:pt x="5445956" y="5501294"/>
                  </a:lnTo>
                  <a:lnTo>
                    <a:pt x="5494561" y="5492972"/>
                  </a:lnTo>
                  <a:lnTo>
                    <a:pt x="5542858" y="5484168"/>
                  </a:lnTo>
                  <a:lnTo>
                    <a:pt x="5590840" y="5474884"/>
                  </a:lnTo>
                  <a:lnTo>
                    <a:pt x="5638501" y="5465122"/>
                  </a:lnTo>
                  <a:lnTo>
                    <a:pt x="5685834" y="5454886"/>
                  </a:lnTo>
                  <a:lnTo>
                    <a:pt x="5732834" y="5444177"/>
                  </a:lnTo>
                  <a:lnTo>
                    <a:pt x="5779494" y="5432997"/>
                  </a:lnTo>
                  <a:lnTo>
                    <a:pt x="5825809" y="5421350"/>
                  </a:lnTo>
                  <a:lnTo>
                    <a:pt x="5871773" y="5409236"/>
                  </a:lnTo>
                  <a:lnTo>
                    <a:pt x="5917378" y="5396659"/>
                  </a:lnTo>
                  <a:lnTo>
                    <a:pt x="5962620" y="5383621"/>
                  </a:lnTo>
                  <a:lnTo>
                    <a:pt x="6007492" y="5370124"/>
                  </a:lnTo>
                  <a:lnTo>
                    <a:pt x="6051988" y="5356171"/>
                  </a:lnTo>
                  <a:lnTo>
                    <a:pt x="6096102" y="5341764"/>
                  </a:lnTo>
                  <a:lnTo>
                    <a:pt x="6139827" y="5326904"/>
                  </a:lnTo>
                  <a:lnTo>
                    <a:pt x="6183159" y="5311595"/>
                  </a:lnTo>
                  <a:lnTo>
                    <a:pt x="6226089" y="5295839"/>
                  </a:lnTo>
                  <a:lnTo>
                    <a:pt x="6268614" y="5279639"/>
                  </a:lnTo>
                  <a:lnTo>
                    <a:pt x="6310726" y="5262995"/>
                  </a:lnTo>
                  <a:lnTo>
                    <a:pt x="6352419" y="5245912"/>
                  </a:lnTo>
                  <a:lnTo>
                    <a:pt x="6393687" y="5228390"/>
                  </a:lnTo>
                  <a:lnTo>
                    <a:pt x="6434524" y="5210433"/>
                  </a:lnTo>
                  <a:lnTo>
                    <a:pt x="6474924" y="5192043"/>
                  </a:lnTo>
                  <a:lnTo>
                    <a:pt x="6514882" y="5173222"/>
                  </a:lnTo>
                  <a:lnTo>
                    <a:pt x="6554390" y="5153972"/>
                  </a:lnTo>
                  <a:lnTo>
                    <a:pt x="6593442" y="5134296"/>
                  </a:lnTo>
                  <a:lnTo>
                    <a:pt x="6632034" y="5114196"/>
                  </a:lnTo>
                  <a:lnTo>
                    <a:pt x="6670158" y="5093674"/>
                  </a:lnTo>
                  <a:lnTo>
                    <a:pt x="6707808" y="5072733"/>
                  </a:lnTo>
                  <a:lnTo>
                    <a:pt x="6744979" y="5051375"/>
                  </a:lnTo>
                  <a:lnTo>
                    <a:pt x="6781663" y="5029602"/>
                  </a:lnTo>
                  <a:lnTo>
                    <a:pt x="6817856" y="5007417"/>
                  </a:lnTo>
                  <a:lnTo>
                    <a:pt x="6853551" y="4984822"/>
                  </a:lnTo>
                  <a:lnTo>
                    <a:pt x="6888742" y="4961820"/>
                  </a:lnTo>
                  <a:lnTo>
                    <a:pt x="6923423" y="4938411"/>
                  </a:lnTo>
                  <a:lnTo>
                    <a:pt x="6957588" y="4914600"/>
                  </a:lnTo>
                  <a:lnTo>
                    <a:pt x="6991230" y="4890389"/>
                  </a:lnTo>
                  <a:lnTo>
                    <a:pt x="7024344" y="4865778"/>
                  </a:lnTo>
                  <a:lnTo>
                    <a:pt x="7056923" y="4840772"/>
                  </a:lnTo>
                  <a:lnTo>
                    <a:pt x="7088961" y="4815372"/>
                  </a:lnTo>
                  <a:lnTo>
                    <a:pt x="7120453" y="4789580"/>
                  </a:lnTo>
                  <a:lnTo>
                    <a:pt x="7151392" y="4763400"/>
                  </a:lnTo>
                  <a:lnTo>
                    <a:pt x="7181772" y="4736832"/>
                  </a:lnTo>
                  <a:lnTo>
                    <a:pt x="7211587" y="4709880"/>
                  </a:lnTo>
                  <a:lnTo>
                    <a:pt x="7240831" y="4682546"/>
                  </a:lnTo>
                  <a:lnTo>
                    <a:pt x="7269498" y="4654832"/>
                  </a:lnTo>
                  <a:lnTo>
                    <a:pt x="7297581" y="4626741"/>
                  </a:lnTo>
                  <a:lnTo>
                    <a:pt x="7325075" y="4598275"/>
                  </a:lnTo>
                  <a:lnTo>
                    <a:pt x="7351973" y="4569435"/>
                  </a:lnTo>
                  <a:lnTo>
                    <a:pt x="7378270" y="4540225"/>
                  </a:lnTo>
                  <a:lnTo>
                    <a:pt x="7403959" y="4510647"/>
                  </a:lnTo>
                  <a:lnTo>
                    <a:pt x="7429034" y="4480703"/>
                  </a:lnTo>
                  <a:lnTo>
                    <a:pt x="7453490" y="4450396"/>
                  </a:lnTo>
                  <a:lnTo>
                    <a:pt x="7477319" y="4419727"/>
                  </a:lnTo>
                  <a:lnTo>
                    <a:pt x="7500516" y="4388699"/>
                  </a:lnTo>
                  <a:lnTo>
                    <a:pt x="7523075" y="4357315"/>
                  </a:lnTo>
                  <a:lnTo>
                    <a:pt x="7544990" y="4325576"/>
                  </a:lnTo>
                  <a:lnTo>
                    <a:pt x="7566254" y="4293486"/>
                  </a:lnTo>
                  <a:lnTo>
                    <a:pt x="7586862" y="4261046"/>
                  </a:lnTo>
                  <a:lnTo>
                    <a:pt x="7606807" y="4228258"/>
                  </a:lnTo>
                  <a:lnTo>
                    <a:pt x="7626084" y="4195126"/>
                  </a:lnTo>
                  <a:lnTo>
                    <a:pt x="7644685" y="4161651"/>
                  </a:lnTo>
                  <a:lnTo>
                    <a:pt x="7662606" y="4127835"/>
                  </a:lnTo>
                  <a:lnTo>
                    <a:pt x="7679840" y="4093682"/>
                  </a:lnTo>
                  <a:lnTo>
                    <a:pt x="7696381" y="4059193"/>
                  </a:lnTo>
                  <a:lnTo>
                    <a:pt x="7712223" y="4024370"/>
                  </a:lnTo>
                  <a:lnTo>
                    <a:pt x="7727359" y="3989217"/>
                  </a:lnTo>
                  <a:lnTo>
                    <a:pt x="7741784" y="3953735"/>
                  </a:lnTo>
                  <a:lnTo>
                    <a:pt x="7755492" y="3917926"/>
                  </a:lnTo>
                  <a:lnTo>
                    <a:pt x="7768476" y="3881793"/>
                  </a:lnTo>
                  <a:lnTo>
                    <a:pt x="7780730" y="3845339"/>
                  </a:lnTo>
                  <a:lnTo>
                    <a:pt x="7792248" y="3808565"/>
                  </a:lnTo>
                  <a:lnTo>
                    <a:pt x="7803025" y="3771474"/>
                  </a:lnTo>
                  <a:lnTo>
                    <a:pt x="7813054" y="3734069"/>
                  </a:lnTo>
                  <a:lnTo>
                    <a:pt x="7822329" y="3696350"/>
                  </a:lnTo>
                  <a:lnTo>
                    <a:pt x="7830816" y="3658447"/>
                  </a:lnTo>
                  <a:lnTo>
                    <a:pt x="7838488" y="3620488"/>
                  </a:lnTo>
                  <a:lnTo>
                    <a:pt x="7845351" y="3582478"/>
                  </a:lnTo>
                  <a:lnTo>
                    <a:pt x="7851408" y="3544421"/>
                  </a:lnTo>
                  <a:lnTo>
                    <a:pt x="7856665" y="3506323"/>
                  </a:lnTo>
                  <a:lnTo>
                    <a:pt x="7861124" y="3468188"/>
                  </a:lnTo>
                  <a:lnTo>
                    <a:pt x="7864792" y="3430022"/>
                  </a:lnTo>
                  <a:lnTo>
                    <a:pt x="7867672" y="3391828"/>
                  </a:lnTo>
                  <a:lnTo>
                    <a:pt x="7869768" y="3353612"/>
                  </a:lnTo>
                  <a:lnTo>
                    <a:pt x="7871086" y="3315378"/>
                  </a:lnTo>
                  <a:lnTo>
                    <a:pt x="7871629" y="3277131"/>
                  </a:lnTo>
                  <a:lnTo>
                    <a:pt x="7871402" y="3238877"/>
                  </a:lnTo>
                  <a:lnTo>
                    <a:pt x="7870409" y="3200619"/>
                  </a:lnTo>
                  <a:lnTo>
                    <a:pt x="7868656" y="3162363"/>
                  </a:lnTo>
                  <a:lnTo>
                    <a:pt x="7866145" y="3124113"/>
                  </a:lnTo>
                  <a:lnTo>
                    <a:pt x="7862882" y="3085875"/>
                  </a:lnTo>
                  <a:lnTo>
                    <a:pt x="7858871" y="3047652"/>
                  </a:lnTo>
                  <a:lnTo>
                    <a:pt x="7854117" y="3009451"/>
                  </a:lnTo>
                  <a:lnTo>
                    <a:pt x="7848624" y="2971275"/>
                  </a:lnTo>
                  <a:lnTo>
                    <a:pt x="7842396" y="2933129"/>
                  </a:lnTo>
                  <a:lnTo>
                    <a:pt x="7835437" y="2895018"/>
                  </a:lnTo>
                  <a:lnTo>
                    <a:pt x="7827753" y="2856948"/>
                  </a:lnTo>
                  <a:lnTo>
                    <a:pt x="7819348" y="2818922"/>
                  </a:lnTo>
                  <a:lnTo>
                    <a:pt x="7810226" y="2780946"/>
                  </a:lnTo>
                  <a:lnTo>
                    <a:pt x="7800391" y="2743024"/>
                  </a:lnTo>
                  <a:lnTo>
                    <a:pt x="7789848" y="2705162"/>
                  </a:lnTo>
                  <a:lnTo>
                    <a:pt x="7778601" y="2667363"/>
                  </a:lnTo>
                  <a:lnTo>
                    <a:pt x="7766655" y="2629633"/>
                  </a:lnTo>
                  <a:lnTo>
                    <a:pt x="7754015" y="2591976"/>
                  </a:lnTo>
                  <a:lnTo>
                    <a:pt x="7740684" y="2554398"/>
                  </a:lnTo>
                  <a:lnTo>
                    <a:pt x="7726667" y="2516903"/>
                  </a:lnTo>
                  <a:lnTo>
                    <a:pt x="7711968" y="2479496"/>
                  </a:lnTo>
                  <a:lnTo>
                    <a:pt x="7696592" y="2442182"/>
                  </a:lnTo>
                  <a:lnTo>
                    <a:pt x="7680544" y="2404965"/>
                  </a:lnTo>
                  <a:lnTo>
                    <a:pt x="7663827" y="2367850"/>
                  </a:lnTo>
                  <a:lnTo>
                    <a:pt x="7646447" y="2330843"/>
                  </a:lnTo>
                  <a:lnTo>
                    <a:pt x="7628407" y="2293947"/>
                  </a:lnTo>
                  <a:lnTo>
                    <a:pt x="7609712" y="2257169"/>
                  </a:lnTo>
                  <a:lnTo>
                    <a:pt x="7590367" y="2220511"/>
                  </a:lnTo>
                  <a:lnTo>
                    <a:pt x="7570375" y="2183980"/>
                  </a:lnTo>
                  <a:lnTo>
                    <a:pt x="7549742" y="2147580"/>
                  </a:lnTo>
                  <a:lnTo>
                    <a:pt x="7528471" y="2111316"/>
                  </a:lnTo>
                  <a:lnTo>
                    <a:pt x="7506568" y="2075192"/>
                  </a:lnTo>
                  <a:lnTo>
                    <a:pt x="7484036" y="2039214"/>
                  </a:lnTo>
                  <a:lnTo>
                    <a:pt x="7460880" y="2003386"/>
                  </a:lnTo>
                  <a:lnTo>
                    <a:pt x="7437105" y="1967714"/>
                  </a:lnTo>
                  <a:lnTo>
                    <a:pt x="7412714" y="1932201"/>
                  </a:lnTo>
                  <a:lnTo>
                    <a:pt x="7387713" y="1896852"/>
                  </a:lnTo>
                  <a:lnTo>
                    <a:pt x="7362105" y="1861673"/>
                  </a:lnTo>
                  <a:lnTo>
                    <a:pt x="7335896" y="1826669"/>
                  </a:lnTo>
                  <a:lnTo>
                    <a:pt x="7309089" y="1791843"/>
                  </a:lnTo>
                  <a:lnTo>
                    <a:pt x="7281689" y="1757201"/>
                  </a:lnTo>
                  <a:lnTo>
                    <a:pt x="7253700" y="1722748"/>
                  </a:lnTo>
                  <a:lnTo>
                    <a:pt x="7225127" y="1688488"/>
                  </a:lnTo>
                  <a:lnTo>
                    <a:pt x="7195975" y="1654427"/>
                  </a:lnTo>
                  <a:lnTo>
                    <a:pt x="7166247" y="1620568"/>
                  </a:lnTo>
                  <a:lnTo>
                    <a:pt x="7135948" y="1586917"/>
                  </a:lnTo>
                  <a:lnTo>
                    <a:pt x="7105083" y="1553479"/>
                  </a:lnTo>
                  <a:lnTo>
                    <a:pt x="7073655" y="1520258"/>
                  </a:lnTo>
                  <a:lnTo>
                    <a:pt x="7041671" y="1487259"/>
                  </a:lnTo>
                  <a:lnTo>
                    <a:pt x="7009132" y="1454487"/>
                  </a:lnTo>
                  <a:lnTo>
                    <a:pt x="6976046" y="1421947"/>
                  </a:lnTo>
                  <a:lnTo>
                    <a:pt x="6942414" y="1389644"/>
                  </a:lnTo>
                  <a:lnTo>
                    <a:pt x="6908243" y="1357581"/>
                  </a:lnTo>
                  <a:lnTo>
                    <a:pt x="6873537" y="1325765"/>
                  </a:lnTo>
                  <a:lnTo>
                    <a:pt x="6838299" y="1294200"/>
                  </a:lnTo>
                  <a:lnTo>
                    <a:pt x="6802534" y="1262891"/>
                  </a:lnTo>
                  <a:lnTo>
                    <a:pt x="6766248" y="1231842"/>
                  </a:lnTo>
                  <a:lnTo>
                    <a:pt x="6729443" y="1201058"/>
                  </a:lnTo>
                  <a:lnTo>
                    <a:pt x="6692126" y="1170545"/>
                  </a:lnTo>
                  <a:lnTo>
                    <a:pt x="6654299" y="1140306"/>
                  </a:lnTo>
                  <a:lnTo>
                    <a:pt x="6615968" y="1110347"/>
                  </a:lnTo>
                  <a:lnTo>
                    <a:pt x="6577136" y="1080673"/>
                  </a:lnTo>
                  <a:lnTo>
                    <a:pt x="6537809" y="1051288"/>
                  </a:lnTo>
                  <a:lnTo>
                    <a:pt x="6497991" y="1022197"/>
                  </a:lnTo>
                  <a:lnTo>
                    <a:pt x="6457686" y="993405"/>
                  </a:lnTo>
                  <a:lnTo>
                    <a:pt x="6416899" y="964916"/>
                  </a:lnTo>
                  <a:lnTo>
                    <a:pt x="6375633" y="936737"/>
                  </a:lnTo>
                  <a:lnTo>
                    <a:pt x="6333894" y="908870"/>
                  </a:lnTo>
                  <a:lnTo>
                    <a:pt x="6291686" y="881321"/>
                  </a:lnTo>
                  <a:lnTo>
                    <a:pt x="6249014" y="854095"/>
                  </a:lnTo>
                  <a:lnTo>
                    <a:pt x="6205881" y="827197"/>
                  </a:lnTo>
                  <a:lnTo>
                    <a:pt x="6162292" y="800631"/>
                  </a:lnTo>
                  <a:lnTo>
                    <a:pt x="6118251" y="774403"/>
                  </a:lnTo>
                  <a:lnTo>
                    <a:pt x="6073764" y="748516"/>
                  </a:lnTo>
                  <a:lnTo>
                    <a:pt x="6028834" y="722977"/>
                  </a:lnTo>
                  <a:lnTo>
                    <a:pt x="5983466" y="697789"/>
                  </a:lnTo>
                  <a:lnTo>
                    <a:pt x="5937665" y="672957"/>
                  </a:lnTo>
                  <a:lnTo>
                    <a:pt x="5891434" y="648486"/>
                  </a:lnTo>
                  <a:lnTo>
                    <a:pt x="5844778" y="624382"/>
                  </a:lnTo>
                  <a:lnTo>
                    <a:pt x="5797702" y="600648"/>
                  </a:lnTo>
                  <a:lnTo>
                    <a:pt x="5750210" y="577290"/>
                  </a:lnTo>
                  <a:lnTo>
                    <a:pt x="5702306" y="554313"/>
                  </a:lnTo>
                  <a:lnTo>
                    <a:pt x="5653995" y="531720"/>
                  </a:lnTo>
                  <a:lnTo>
                    <a:pt x="5605281" y="509517"/>
                  </a:lnTo>
                  <a:lnTo>
                    <a:pt x="5556169" y="487710"/>
                  </a:lnTo>
                  <a:lnTo>
                    <a:pt x="5506663" y="466301"/>
                  </a:lnTo>
                  <a:lnTo>
                    <a:pt x="5456768" y="445298"/>
                  </a:lnTo>
                  <a:lnTo>
                    <a:pt x="5406487" y="424703"/>
                  </a:lnTo>
                  <a:lnTo>
                    <a:pt x="5355826" y="404522"/>
                  </a:lnTo>
                  <a:lnTo>
                    <a:pt x="5304789" y="384760"/>
                  </a:lnTo>
                  <a:lnTo>
                    <a:pt x="5253380" y="365421"/>
                  </a:lnTo>
                  <a:lnTo>
                    <a:pt x="5201604" y="346511"/>
                  </a:lnTo>
                  <a:lnTo>
                    <a:pt x="5149465" y="328034"/>
                  </a:lnTo>
                  <a:lnTo>
                    <a:pt x="5096967" y="309995"/>
                  </a:lnTo>
                  <a:lnTo>
                    <a:pt x="5044116" y="292399"/>
                  </a:lnTo>
                  <a:lnTo>
                    <a:pt x="4990914" y="275250"/>
                  </a:lnTo>
                  <a:lnTo>
                    <a:pt x="4937368" y="258553"/>
                  </a:lnTo>
                  <a:lnTo>
                    <a:pt x="4883480" y="242313"/>
                  </a:lnTo>
                  <a:lnTo>
                    <a:pt x="4829257" y="226536"/>
                  </a:lnTo>
                  <a:lnTo>
                    <a:pt x="4774701" y="211225"/>
                  </a:lnTo>
                  <a:lnTo>
                    <a:pt x="4719818" y="196385"/>
                  </a:lnTo>
                  <a:lnTo>
                    <a:pt x="4664612" y="182022"/>
                  </a:lnTo>
                  <a:lnTo>
                    <a:pt x="4609087" y="168140"/>
                  </a:lnTo>
                  <a:lnTo>
                    <a:pt x="4553248" y="154743"/>
                  </a:lnTo>
                  <a:lnTo>
                    <a:pt x="4497284" y="141880"/>
                  </a:lnTo>
                  <a:lnTo>
                    <a:pt x="4441385" y="129591"/>
                  </a:lnTo>
                  <a:lnTo>
                    <a:pt x="4385557" y="117875"/>
                  </a:lnTo>
                  <a:lnTo>
                    <a:pt x="4329806" y="106729"/>
                  </a:lnTo>
                  <a:lnTo>
                    <a:pt x="4274139" y="96151"/>
                  </a:lnTo>
                  <a:lnTo>
                    <a:pt x="4218561" y="86139"/>
                  </a:lnTo>
                  <a:lnTo>
                    <a:pt x="4163079" y="76690"/>
                  </a:lnTo>
                  <a:lnTo>
                    <a:pt x="4107698" y="67803"/>
                  </a:lnTo>
                  <a:lnTo>
                    <a:pt x="4052425" y="59474"/>
                  </a:lnTo>
                  <a:lnTo>
                    <a:pt x="3997266" y="51701"/>
                  </a:lnTo>
                  <a:lnTo>
                    <a:pt x="3942227" y="44482"/>
                  </a:lnTo>
                  <a:lnTo>
                    <a:pt x="3887314" y="37815"/>
                  </a:lnTo>
                  <a:lnTo>
                    <a:pt x="3832533" y="31698"/>
                  </a:lnTo>
                  <a:lnTo>
                    <a:pt x="3777890" y="26127"/>
                  </a:lnTo>
                  <a:lnTo>
                    <a:pt x="3723392" y="21101"/>
                  </a:lnTo>
                  <a:lnTo>
                    <a:pt x="3669044" y="16618"/>
                  </a:lnTo>
                  <a:lnTo>
                    <a:pt x="3614852" y="12675"/>
                  </a:lnTo>
                  <a:lnTo>
                    <a:pt x="3560823" y="9269"/>
                  </a:lnTo>
                  <a:lnTo>
                    <a:pt x="3506963" y="6399"/>
                  </a:lnTo>
                  <a:lnTo>
                    <a:pt x="3453278" y="4062"/>
                  </a:lnTo>
                  <a:lnTo>
                    <a:pt x="3399774" y="2256"/>
                  </a:lnTo>
                  <a:lnTo>
                    <a:pt x="3346456" y="979"/>
                  </a:lnTo>
                  <a:lnTo>
                    <a:pt x="3293332" y="227"/>
                  </a:lnTo>
                  <a:lnTo>
                    <a:pt x="3240407" y="0"/>
                  </a:lnTo>
                  <a:close/>
                </a:path>
              </a:pathLst>
            </a:custGeom>
            <a:solidFill>
              <a:srgbClr val="F396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3" name="Google Shape;73;p1"/>
            <p:cNvPicPr preferRelativeResize="0"/>
            <p:nvPr/>
          </p:nvPicPr>
          <p:blipFill rotWithShape="1">
            <a:blip r:embed="rId5">
              <a:alphaModFix/>
            </a:blip>
            <a:srcRect b="0" l="0" r="0" t="0"/>
            <a:stretch/>
          </p:blipFill>
          <p:spPr>
            <a:xfrm>
              <a:off x="3169920" y="2517647"/>
              <a:ext cx="5852159" cy="1807464"/>
            </a:xfrm>
            <a:prstGeom prst="rect">
              <a:avLst/>
            </a:prstGeom>
            <a:noFill/>
            <a:ln>
              <a:noFill/>
            </a:ln>
          </p:spPr>
        </p:pic>
      </p:grpSp>
      <p:sp>
        <p:nvSpPr>
          <p:cNvPr descr="$PPTXTitle" id="74" name="Google Shape;74;p1"/>
          <p:cNvSpPr txBox="1"/>
          <p:nvPr>
            <p:ph type="title"/>
          </p:nvPr>
        </p:nvSpPr>
        <p:spPr>
          <a:xfrm>
            <a:off x="3757928" y="2235953"/>
            <a:ext cx="4706700" cy="2506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5400">
                <a:solidFill>
                  <a:srgbClr val="FFFFFF"/>
                </a:solidFill>
                <a:latin typeface="Trebuchet MS"/>
                <a:ea typeface="Trebuchet MS"/>
                <a:cs typeface="Trebuchet MS"/>
                <a:sym typeface="Trebuchet MS"/>
              </a:rPr>
              <a:t>DATA ANALYTICS PROJECT</a:t>
            </a:r>
            <a:endParaRPr sz="5400">
              <a:latin typeface="Trebuchet MS"/>
              <a:ea typeface="Trebuchet MS"/>
              <a:cs typeface="Trebuchet MS"/>
              <a:sym typeface="Trebuchet MS"/>
            </a:endParaRPr>
          </a:p>
        </p:txBody>
      </p:sp>
      <p:pic>
        <p:nvPicPr>
          <p:cNvPr id="75" name="Google Shape;75;p1"/>
          <p:cNvPicPr preferRelativeResize="0"/>
          <p:nvPr/>
        </p:nvPicPr>
        <p:blipFill rotWithShape="1">
          <a:blip r:embed="rId6">
            <a:alphaModFix/>
          </a:blip>
          <a:srcRect b="0" l="0" r="0" t="0"/>
          <a:stretch/>
        </p:blipFill>
        <p:spPr>
          <a:xfrm>
            <a:off x="3831335" y="3944111"/>
            <a:ext cx="4559808" cy="731519"/>
          </a:xfrm>
          <a:prstGeom prst="rect">
            <a:avLst/>
          </a:prstGeom>
          <a:noFill/>
          <a:ln>
            <a:noFill/>
          </a:ln>
        </p:spPr>
      </p:pic>
      <p:sp>
        <p:nvSpPr>
          <p:cNvPr id="76" name="Google Shape;76;p1"/>
          <p:cNvSpPr txBox="1"/>
          <p:nvPr/>
        </p:nvSpPr>
        <p:spPr>
          <a:xfrm>
            <a:off x="7577946" y="4797510"/>
            <a:ext cx="1092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libri"/>
                <a:ea typeface="Calibri"/>
                <a:cs typeface="Calibri"/>
                <a:sym typeface="Calibri"/>
              </a:rPr>
              <a:t>By Hieu Nguyen</a:t>
            </a:r>
            <a:endParaRPr sz="18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descr="$PPTXTitle" id="81" name="Google Shape;81;p2"/>
          <p:cNvSpPr txBox="1"/>
          <p:nvPr>
            <p:ph type="title"/>
          </p:nvPr>
        </p:nvSpPr>
        <p:spPr>
          <a:xfrm>
            <a:off x="1635126" y="814323"/>
            <a:ext cx="1694180"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AGENDA</a:t>
            </a:r>
            <a:endParaRPr sz="4000"/>
          </a:p>
        </p:txBody>
      </p:sp>
      <p:pic>
        <p:nvPicPr>
          <p:cNvPr id="82" name="Google Shape;82;p2"/>
          <p:cNvPicPr preferRelativeResize="0"/>
          <p:nvPr/>
        </p:nvPicPr>
        <p:blipFill rotWithShape="1">
          <a:blip r:embed="rId3">
            <a:alphaModFix/>
          </a:blip>
          <a:srcRect b="0" l="0" r="0" t="0"/>
          <a:stretch/>
        </p:blipFill>
        <p:spPr>
          <a:xfrm>
            <a:off x="0" y="0"/>
            <a:ext cx="12192000" cy="6857999"/>
          </a:xfrm>
          <a:prstGeom prst="rect">
            <a:avLst/>
          </a:prstGeom>
          <a:noFill/>
          <a:ln>
            <a:noFill/>
          </a:ln>
        </p:spPr>
      </p:pic>
      <p:sp>
        <p:nvSpPr>
          <p:cNvPr id="83" name="Google Shape;83;p2"/>
          <p:cNvSpPr txBox="1"/>
          <p:nvPr/>
        </p:nvSpPr>
        <p:spPr>
          <a:xfrm>
            <a:off x="1977391" y="1872533"/>
            <a:ext cx="2204720" cy="2442210"/>
          </a:xfrm>
          <a:prstGeom prst="rect">
            <a:avLst/>
          </a:prstGeom>
          <a:noFill/>
          <a:ln>
            <a:noFill/>
          </a:ln>
        </p:spPr>
        <p:txBody>
          <a:bodyPr anchorCtr="0" anchor="t" bIns="0" lIns="0" spcFirstLastPara="1" rIns="0" wrap="square" tIns="149850">
            <a:spAutoFit/>
          </a:bodyPr>
          <a:lstStyle/>
          <a:p>
            <a:pPr indent="-227965" lvl="0" marL="240665" rtl="0" algn="l">
              <a:lnSpc>
                <a:spcPct val="100000"/>
              </a:lnSpc>
              <a:spcBef>
                <a:spcPts val="0"/>
              </a:spcBef>
              <a:spcAft>
                <a:spcPts val="0"/>
              </a:spcAft>
              <a:buClr>
                <a:srgbClr val="F3960F"/>
              </a:buClr>
              <a:buSzPts val="2200"/>
              <a:buFont typeface="Noto Sans Symbols"/>
              <a:buChar char="▪"/>
            </a:pPr>
            <a:r>
              <a:rPr lang="en-US" sz="2000">
                <a:latin typeface="Calibri"/>
                <a:ea typeface="Calibri"/>
                <a:cs typeface="Calibri"/>
                <a:sym typeface="Calibri"/>
              </a:rPr>
              <a:t>Problem statement</a:t>
            </a:r>
            <a:endParaRPr sz="2000">
              <a:latin typeface="Calibri"/>
              <a:ea typeface="Calibri"/>
              <a:cs typeface="Calibri"/>
              <a:sym typeface="Calibri"/>
            </a:endParaRPr>
          </a:p>
          <a:p>
            <a:pPr indent="-227965" lvl="0" marL="240665" rtl="0" algn="l">
              <a:lnSpc>
                <a:spcPct val="100000"/>
              </a:lnSpc>
              <a:spcBef>
                <a:spcPts val="1395"/>
              </a:spcBef>
              <a:spcAft>
                <a:spcPts val="0"/>
              </a:spcAft>
              <a:buClr>
                <a:srgbClr val="F3960F"/>
              </a:buClr>
              <a:buSzPts val="2200"/>
              <a:buFont typeface="Noto Sans Symbols"/>
              <a:buChar char="▪"/>
            </a:pPr>
            <a:r>
              <a:rPr lang="en-US" sz="2000">
                <a:latin typeface="Calibri"/>
                <a:ea typeface="Calibri"/>
                <a:cs typeface="Calibri"/>
                <a:sym typeface="Calibri"/>
              </a:rPr>
              <a:t>About data</a:t>
            </a:r>
            <a:endParaRPr sz="2000">
              <a:latin typeface="Calibri"/>
              <a:ea typeface="Calibri"/>
              <a:cs typeface="Calibri"/>
              <a:sym typeface="Calibri"/>
            </a:endParaRPr>
          </a:p>
          <a:p>
            <a:pPr indent="-227965" lvl="0" marL="240665" rtl="0" algn="l">
              <a:lnSpc>
                <a:spcPct val="100000"/>
              </a:lnSpc>
              <a:spcBef>
                <a:spcPts val="1510"/>
              </a:spcBef>
              <a:spcAft>
                <a:spcPts val="0"/>
              </a:spcAft>
              <a:buClr>
                <a:srgbClr val="F3960F"/>
              </a:buClr>
              <a:buSzPts val="2200"/>
              <a:buFont typeface="Noto Sans Symbols"/>
              <a:buChar char="▪"/>
            </a:pPr>
            <a:r>
              <a:rPr lang="en-US" sz="2000">
                <a:latin typeface="Calibri"/>
                <a:ea typeface="Calibri"/>
                <a:cs typeface="Calibri"/>
                <a:sym typeface="Calibri"/>
              </a:rPr>
              <a:t>Key findings</a:t>
            </a:r>
            <a:endParaRPr sz="2000">
              <a:latin typeface="Calibri"/>
              <a:ea typeface="Calibri"/>
              <a:cs typeface="Calibri"/>
              <a:sym typeface="Calibri"/>
            </a:endParaRPr>
          </a:p>
          <a:p>
            <a:pPr indent="-227965" lvl="0" marL="240665" rtl="0" algn="l">
              <a:lnSpc>
                <a:spcPct val="100000"/>
              </a:lnSpc>
              <a:spcBef>
                <a:spcPts val="1490"/>
              </a:spcBef>
              <a:spcAft>
                <a:spcPts val="0"/>
              </a:spcAft>
              <a:buClr>
                <a:srgbClr val="F3960F"/>
              </a:buClr>
              <a:buSzPts val="2200"/>
              <a:buFont typeface="Noto Sans Symbols"/>
              <a:buChar char="▪"/>
            </a:pPr>
            <a:r>
              <a:rPr lang="en-US" sz="2000">
                <a:latin typeface="Calibri"/>
                <a:ea typeface="Calibri"/>
                <a:cs typeface="Calibri"/>
                <a:sym typeface="Calibri"/>
              </a:rPr>
              <a:t>Summary</a:t>
            </a:r>
            <a:endParaRPr sz="2000">
              <a:latin typeface="Calibri"/>
              <a:ea typeface="Calibri"/>
              <a:cs typeface="Calibri"/>
              <a:sym typeface="Calibri"/>
            </a:endParaRPr>
          </a:p>
          <a:p>
            <a:pPr indent="-227965" lvl="0" marL="240665" rtl="0" algn="l">
              <a:lnSpc>
                <a:spcPct val="100000"/>
              </a:lnSpc>
              <a:spcBef>
                <a:spcPts val="1510"/>
              </a:spcBef>
              <a:spcAft>
                <a:spcPts val="0"/>
              </a:spcAft>
              <a:buClr>
                <a:srgbClr val="F3960F"/>
              </a:buClr>
              <a:buSzPts val="2200"/>
              <a:buFont typeface="Noto Sans Symbols"/>
              <a:buChar char="▪"/>
            </a:pPr>
            <a:r>
              <a:rPr lang="en-US" sz="2000">
                <a:latin typeface="Calibri"/>
                <a:ea typeface="Calibri"/>
                <a:cs typeface="Calibri"/>
                <a:sym typeface="Calibri"/>
              </a:rPr>
              <a:t>Remarks</a:t>
            </a:r>
            <a:endParaRPr sz="20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txBox="1"/>
          <p:nvPr/>
        </p:nvSpPr>
        <p:spPr>
          <a:xfrm>
            <a:off x="652047" y="2569971"/>
            <a:ext cx="1564005" cy="821055"/>
          </a:xfrm>
          <a:prstGeom prst="rect">
            <a:avLst/>
          </a:prstGeom>
          <a:noFill/>
          <a:ln>
            <a:noFill/>
          </a:ln>
        </p:spPr>
        <p:txBody>
          <a:bodyPr anchorCtr="0" anchor="t" bIns="0" lIns="0" spcFirstLastPara="1" rIns="0" wrap="square" tIns="73650">
            <a:spAutoFit/>
          </a:bodyPr>
          <a:lstStyle/>
          <a:p>
            <a:pPr indent="0" lvl="0" marL="12700" marR="5080" rtl="0" algn="l">
              <a:lnSpc>
                <a:spcPct val="103571"/>
              </a:lnSpc>
              <a:spcBef>
                <a:spcPts val="0"/>
              </a:spcBef>
              <a:spcAft>
                <a:spcPts val="0"/>
              </a:spcAft>
              <a:buNone/>
            </a:pPr>
            <a:r>
              <a:rPr lang="en-US" sz="2800">
                <a:latin typeface="Calibri"/>
                <a:ea typeface="Calibri"/>
                <a:cs typeface="Calibri"/>
                <a:sym typeface="Calibri"/>
              </a:rPr>
              <a:t>PROBLEM STATEMENT</a:t>
            </a:r>
            <a:endParaRPr sz="2800">
              <a:latin typeface="Calibri"/>
              <a:ea typeface="Calibri"/>
              <a:cs typeface="Calibri"/>
              <a:sym typeface="Calibri"/>
            </a:endParaRPr>
          </a:p>
        </p:txBody>
      </p:sp>
      <p:sp>
        <p:nvSpPr>
          <p:cNvPr id="89" name="Google Shape;89;p3"/>
          <p:cNvSpPr txBox="1"/>
          <p:nvPr/>
        </p:nvSpPr>
        <p:spPr>
          <a:xfrm>
            <a:off x="2597086" y="1547876"/>
            <a:ext cx="8701405" cy="2921000"/>
          </a:xfrm>
          <a:prstGeom prst="rect">
            <a:avLst/>
          </a:prstGeom>
          <a:noFill/>
          <a:ln>
            <a:noFill/>
          </a:ln>
        </p:spPr>
        <p:txBody>
          <a:bodyPr anchorCtr="0" anchor="t" bIns="0" lIns="0" spcFirstLastPara="1" rIns="0" wrap="square" tIns="10775">
            <a:spAutoFit/>
          </a:bodyPr>
          <a:lstStyle/>
          <a:p>
            <a:pPr indent="-228600" lvl="0" marL="241300" marR="38100" rtl="0" algn="just">
              <a:lnSpc>
                <a:spcPct val="120600"/>
              </a:lnSpc>
              <a:spcBef>
                <a:spcPts val="0"/>
              </a:spcBef>
              <a:spcAft>
                <a:spcPts val="0"/>
              </a:spcAft>
              <a:buClr>
                <a:srgbClr val="F3960F"/>
              </a:buClr>
              <a:buSzPts val="2000"/>
              <a:buFont typeface="Noto Sans Symbols"/>
              <a:buChar char="▪"/>
            </a:pPr>
            <a:r>
              <a:rPr lang="en-US" sz="1750">
                <a:latin typeface="Calibri"/>
                <a:ea typeface="Calibri"/>
                <a:cs typeface="Calibri"/>
                <a:sym typeface="Calibri"/>
              </a:rPr>
              <a:t>Department of Streets and Sanitation (DSS) </a:t>
            </a:r>
            <a:r>
              <a:rPr lang="en-US" sz="1800">
                <a:latin typeface="Calibri"/>
                <a:ea typeface="Calibri"/>
                <a:cs typeface="Calibri"/>
                <a:sym typeface="Calibri"/>
              </a:rPr>
              <a:t>is a government agency that keeps the streets and alleys of Chicago safe &amp; clean. DSS has more than 2,000 employees that respond to 311 non-emergency service requests.</a:t>
            </a:r>
            <a:endParaRPr sz="1800">
              <a:latin typeface="Calibri"/>
              <a:ea typeface="Calibri"/>
              <a:cs typeface="Calibri"/>
              <a:sym typeface="Calibri"/>
            </a:endParaRPr>
          </a:p>
          <a:p>
            <a:pPr indent="-228600" lvl="0" marL="241300" marR="52069" rtl="0" algn="l">
              <a:lnSpc>
                <a:spcPct val="120000"/>
              </a:lnSpc>
              <a:spcBef>
                <a:spcPts val="1010"/>
              </a:spcBef>
              <a:spcAft>
                <a:spcPts val="0"/>
              </a:spcAft>
              <a:buClr>
                <a:srgbClr val="F3960F"/>
              </a:buClr>
              <a:buSzPts val="2000"/>
              <a:buFont typeface="Noto Sans Symbols"/>
              <a:buChar char="▪"/>
            </a:pPr>
            <a:r>
              <a:rPr lang="en-US" sz="1750">
                <a:latin typeface="Calibri"/>
                <a:ea typeface="Calibri"/>
                <a:cs typeface="Calibri"/>
                <a:sym typeface="Calibri"/>
              </a:rPr>
              <a:t>DSS </a:t>
            </a:r>
            <a:r>
              <a:rPr lang="en-US" sz="1800">
                <a:latin typeface="Calibri"/>
                <a:ea typeface="Calibri"/>
                <a:cs typeface="Calibri"/>
                <a:sym typeface="Calibri"/>
              </a:rPr>
              <a:t>deals with </a:t>
            </a:r>
            <a:r>
              <a:rPr lang="en-US" sz="1800" u="sng">
                <a:latin typeface="Calibri"/>
                <a:ea typeface="Calibri"/>
                <a:cs typeface="Calibri"/>
                <a:sym typeface="Calibri"/>
              </a:rPr>
              <a:t>400,000+ requests</a:t>
            </a:r>
            <a:r>
              <a:rPr lang="en-US" sz="1800">
                <a:latin typeface="Calibri"/>
                <a:ea typeface="Calibri"/>
                <a:cs typeface="Calibri"/>
                <a:sym typeface="Calibri"/>
              </a:rPr>
              <a:t> in a year and has a </a:t>
            </a:r>
            <a:r>
              <a:rPr lang="en-US" sz="1800" u="sng">
                <a:latin typeface="Calibri"/>
                <a:ea typeface="Calibri"/>
                <a:cs typeface="Calibri"/>
                <a:sym typeface="Calibri"/>
              </a:rPr>
              <a:t>relatively high overall ticket closing</a:t>
            </a:r>
            <a:r>
              <a:rPr lang="en-US" sz="1800">
                <a:latin typeface="Calibri"/>
                <a:ea typeface="Calibri"/>
                <a:cs typeface="Calibri"/>
                <a:sym typeface="Calibri"/>
              </a:rPr>
              <a:t> </a:t>
            </a:r>
            <a:r>
              <a:rPr lang="en-US" sz="1800" u="sng">
                <a:latin typeface="Calibri"/>
                <a:ea typeface="Calibri"/>
                <a:cs typeface="Calibri"/>
                <a:sym typeface="Calibri"/>
              </a:rPr>
              <a:t>time</a:t>
            </a:r>
            <a:r>
              <a:rPr lang="en-US" sz="1750">
                <a:latin typeface="Calibri"/>
                <a:ea typeface="Calibri"/>
                <a:cs typeface="Calibri"/>
                <a:sym typeface="Calibri"/>
              </a:rPr>
              <a:t>. </a:t>
            </a:r>
            <a:r>
              <a:rPr lang="en-US" sz="1800">
                <a:latin typeface="Calibri"/>
                <a:ea typeface="Calibri"/>
                <a:cs typeface="Calibri"/>
                <a:sym typeface="Calibri"/>
              </a:rPr>
              <a:t>With limited resources, they need to know </a:t>
            </a:r>
            <a:r>
              <a:rPr lang="en-US" sz="1800" u="sng">
                <a:latin typeface="Calibri"/>
                <a:ea typeface="Calibri"/>
                <a:cs typeface="Calibri"/>
                <a:sym typeface="Calibri"/>
              </a:rPr>
              <a:t>which services are struggling</a:t>
            </a:r>
            <a:r>
              <a:rPr lang="en-US" sz="1800">
                <a:latin typeface="Calibri"/>
                <a:ea typeface="Calibri"/>
                <a:cs typeface="Calibri"/>
                <a:sym typeface="Calibri"/>
              </a:rPr>
              <a:t> and </a:t>
            </a:r>
            <a:r>
              <a:rPr lang="en-US" sz="1800" u="sng">
                <a:latin typeface="Calibri"/>
                <a:ea typeface="Calibri"/>
                <a:cs typeface="Calibri"/>
                <a:sym typeface="Calibri"/>
              </a:rPr>
              <a:t>where to</a:t>
            </a:r>
            <a:r>
              <a:rPr lang="en-US" sz="1800">
                <a:latin typeface="Calibri"/>
                <a:ea typeface="Calibri"/>
                <a:cs typeface="Calibri"/>
                <a:sym typeface="Calibri"/>
              </a:rPr>
              <a:t> </a:t>
            </a:r>
            <a:r>
              <a:rPr lang="en-US" sz="1800" u="sng">
                <a:latin typeface="Calibri"/>
                <a:ea typeface="Calibri"/>
                <a:cs typeface="Calibri"/>
                <a:sym typeface="Calibri"/>
              </a:rPr>
              <a:t>prioritize improving first</a:t>
            </a:r>
            <a:r>
              <a:rPr lang="en-US" sz="1800">
                <a:latin typeface="Calibri"/>
                <a:ea typeface="Calibri"/>
                <a:cs typeface="Calibri"/>
                <a:sym typeface="Calibri"/>
              </a:rPr>
              <a:t>.</a:t>
            </a:r>
            <a:endParaRPr sz="1800">
              <a:latin typeface="Calibri"/>
              <a:ea typeface="Calibri"/>
              <a:cs typeface="Calibri"/>
              <a:sym typeface="Calibri"/>
            </a:endParaRPr>
          </a:p>
          <a:p>
            <a:pPr indent="-228600" lvl="0" marL="241300" marR="5080" rtl="0" algn="l">
              <a:lnSpc>
                <a:spcPct val="121100"/>
              </a:lnSpc>
              <a:spcBef>
                <a:spcPts val="985"/>
              </a:spcBef>
              <a:spcAft>
                <a:spcPts val="0"/>
              </a:spcAft>
              <a:buClr>
                <a:srgbClr val="F3960F"/>
              </a:buClr>
              <a:buSzPts val="2000"/>
              <a:buFont typeface="Noto Sans Symbols"/>
              <a:buChar char="▪"/>
            </a:pPr>
            <a:r>
              <a:rPr lang="en-US" sz="1800">
                <a:latin typeface="Calibri"/>
                <a:ea typeface="Calibri"/>
                <a:cs typeface="Calibri"/>
                <a:sym typeface="Calibri"/>
              </a:rPr>
              <a:t>By analyzing the data, my main goal is to help them allocate resources effectively to improve their overall resolution time and better fulfil the community’s needs.</a:t>
            </a:r>
            <a:endParaRPr sz="1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p:nvPr/>
        </p:nvSpPr>
        <p:spPr>
          <a:xfrm>
            <a:off x="0" y="0"/>
            <a:ext cx="12192000" cy="5788660"/>
          </a:xfrm>
          <a:custGeom>
            <a:rect b="b" l="l" r="r" t="t"/>
            <a:pathLst>
              <a:path extrusionOk="0" h="5788660" w="12192000">
                <a:moveTo>
                  <a:pt x="12192000" y="0"/>
                </a:moveTo>
                <a:lnTo>
                  <a:pt x="0" y="0"/>
                </a:lnTo>
                <a:lnTo>
                  <a:pt x="0" y="5788372"/>
                </a:lnTo>
                <a:lnTo>
                  <a:pt x="12192000" y="5788372"/>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descr="$PPTXTitle" id="95" name="Google Shape;95;p4"/>
          <p:cNvSpPr txBox="1"/>
          <p:nvPr>
            <p:ph type="title"/>
          </p:nvPr>
        </p:nvSpPr>
        <p:spPr>
          <a:xfrm>
            <a:off x="652049" y="2569971"/>
            <a:ext cx="970915" cy="821055"/>
          </a:xfrm>
          <a:prstGeom prst="rect">
            <a:avLst/>
          </a:prstGeom>
          <a:noFill/>
          <a:ln>
            <a:noFill/>
          </a:ln>
        </p:spPr>
        <p:txBody>
          <a:bodyPr anchorCtr="0" anchor="t" bIns="0" lIns="0" spcFirstLastPara="1" rIns="0" wrap="square" tIns="73650">
            <a:spAutoFit/>
          </a:bodyPr>
          <a:lstStyle/>
          <a:p>
            <a:pPr indent="0" lvl="0" marL="12700" marR="5080" rtl="0" algn="l">
              <a:lnSpc>
                <a:spcPct val="103571"/>
              </a:lnSpc>
              <a:spcBef>
                <a:spcPts val="0"/>
              </a:spcBef>
              <a:spcAft>
                <a:spcPts val="0"/>
              </a:spcAft>
              <a:buNone/>
            </a:pPr>
            <a:r>
              <a:rPr lang="en-US" sz="2800"/>
              <a:t>ABOUT DATA</a:t>
            </a:r>
            <a:endParaRPr sz="2800"/>
          </a:p>
        </p:txBody>
      </p:sp>
      <p:sp>
        <p:nvSpPr>
          <p:cNvPr id="96" name="Google Shape;96;p4"/>
          <p:cNvSpPr txBox="1"/>
          <p:nvPr/>
        </p:nvSpPr>
        <p:spPr>
          <a:xfrm>
            <a:off x="2482214" y="2061838"/>
            <a:ext cx="8161020" cy="1812289"/>
          </a:xfrm>
          <a:prstGeom prst="rect">
            <a:avLst/>
          </a:prstGeom>
          <a:noFill/>
          <a:ln>
            <a:noFill/>
          </a:ln>
        </p:spPr>
        <p:txBody>
          <a:bodyPr anchorCtr="0" anchor="t" bIns="0" lIns="0" spcFirstLastPara="1" rIns="0" wrap="square" tIns="154300">
            <a:spAutoFit/>
          </a:bodyPr>
          <a:lstStyle/>
          <a:p>
            <a:pPr indent="-228600" lvl="0" marL="241300" rtl="0" algn="l">
              <a:lnSpc>
                <a:spcPct val="100000"/>
              </a:lnSpc>
              <a:spcBef>
                <a:spcPts val="0"/>
              </a:spcBef>
              <a:spcAft>
                <a:spcPts val="0"/>
              </a:spcAft>
              <a:buClr>
                <a:srgbClr val="F3960F"/>
              </a:buClr>
              <a:buSzPts val="2000"/>
              <a:buFont typeface="Noto Sans Symbols"/>
              <a:buChar char="▪"/>
            </a:pPr>
            <a:r>
              <a:rPr lang="en-US" sz="1750">
                <a:latin typeface="Calibri"/>
                <a:ea typeface="Calibri"/>
                <a:cs typeface="Calibri"/>
                <a:sym typeface="Calibri"/>
              </a:rPr>
              <a:t>Chicago city 311 service data</a:t>
            </a:r>
            <a:endParaRPr sz="1750">
              <a:latin typeface="Calibri"/>
              <a:ea typeface="Calibri"/>
              <a:cs typeface="Calibri"/>
              <a:sym typeface="Calibri"/>
            </a:endParaRPr>
          </a:p>
          <a:p>
            <a:pPr indent="-228600" lvl="0" marL="241300" rtl="0" algn="l">
              <a:lnSpc>
                <a:spcPct val="100000"/>
              </a:lnSpc>
              <a:spcBef>
                <a:spcPts val="1450"/>
              </a:spcBef>
              <a:spcAft>
                <a:spcPts val="0"/>
              </a:spcAft>
              <a:buClr>
                <a:srgbClr val="F3960F"/>
              </a:buClr>
              <a:buSzPts val="2000"/>
              <a:buFont typeface="Noto Sans Symbols"/>
              <a:buChar char="▪"/>
            </a:pPr>
            <a:r>
              <a:rPr lang="en-US" sz="1750">
                <a:latin typeface="Calibri"/>
                <a:ea typeface="Calibri"/>
                <a:cs typeface="Calibri"/>
                <a:sym typeface="Calibri"/>
              </a:rPr>
              <a:t>Data coverage: </a:t>
            </a:r>
            <a:r>
              <a:rPr lang="en-US" sz="1800">
                <a:latin typeface="Calibri"/>
                <a:ea typeface="Calibri"/>
                <a:cs typeface="Calibri"/>
                <a:sym typeface="Calibri"/>
              </a:rPr>
              <a:t>between 2018 and 2020 (not 3 full years)</a:t>
            </a:r>
            <a:endParaRPr sz="1800">
              <a:latin typeface="Calibri"/>
              <a:ea typeface="Calibri"/>
              <a:cs typeface="Calibri"/>
              <a:sym typeface="Calibri"/>
            </a:endParaRPr>
          </a:p>
          <a:p>
            <a:pPr indent="-228600" lvl="0" marL="241300" rtl="0" algn="l">
              <a:lnSpc>
                <a:spcPct val="100000"/>
              </a:lnSpc>
              <a:spcBef>
                <a:spcPts val="1440"/>
              </a:spcBef>
              <a:spcAft>
                <a:spcPts val="0"/>
              </a:spcAft>
              <a:buClr>
                <a:srgbClr val="F3960F"/>
              </a:buClr>
              <a:buSzPts val="2000"/>
              <a:buFont typeface="Noto Sans Symbols"/>
              <a:buChar char="▪"/>
            </a:pPr>
            <a:r>
              <a:rPr lang="en-US" sz="1750">
                <a:latin typeface="Calibri"/>
                <a:ea typeface="Calibri"/>
                <a:cs typeface="Calibri"/>
                <a:sym typeface="Calibri"/>
              </a:rPr>
              <a:t>Data size: </a:t>
            </a:r>
            <a:r>
              <a:rPr lang="en-US" sz="1800">
                <a:latin typeface="Calibri"/>
                <a:ea typeface="Calibri"/>
                <a:cs typeface="Calibri"/>
                <a:sym typeface="Calibri"/>
              </a:rPr>
              <a:t>2.8 million rows, 15 columns (around 740,000 rows for DSS)</a:t>
            </a:r>
            <a:endParaRPr sz="1800">
              <a:latin typeface="Calibri"/>
              <a:ea typeface="Calibri"/>
              <a:cs typeface="Calibri"/>
              <a:sym typeface="Calibri"/>
            </a:endParaRPr>
          </a:p>
          <a:p>
            <a:pPr indent="-228600" lvl="0" marL="241300" rtl="0" algn="l">
              <a:lnSpc>
                <a:spcPct val="100000"/>
              </a:lnSpc>
              <a:spcBef>
                <a:spcPts val="1440"/>
              </a:spcBef>
              <a:spcAft>
                <a:spcPts val="0"/>
              </a:spcAft>
              <a:buClr>
                <a:srgbClr val="F3960F"/>
              </a:buClr>
              <a:buSzPts val="2000"/>
              <a:buFont typeface="Noto Sans Symbols"/>
              <a:buChar char="▪"/>
            </a:pPr>
            <a:r>
              <a:rPr lang="en-US" sz="1750">
                <a:latin typeface="Calibri"/>
                <a:ea typeface="Calibri"/>
                <a:cs typeface="Calibri"/>
                <a:sym typeface="Calibri"/>
              </a:rPr>
              <a:t>Fields: </a:t>
            </a:r>
            <a:r>
              <a:rPr lang="en-US" sz="1800">
                <a:latin typeface="Calibri"/>
                <a:ea typeface="Calibri"/>
                <a:cs typeface="Calibri"/>
                <a:sym typeface="Calibri"/>
              </a:rPr>
              <a:t>ticket category, agency, created date, close date, address, community area, etc.</a:t>
            </a:r>
            <a:endParaRPr sz="1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5"/>
          <p:cNvSpPr/>
          <p:nvPr/>
        </p:nvSpPr>
        <p:spPr>
          <a:xfrm>
            <a:off x="0" y="0"/>
            <a:ext cx="12192000" cy="5788660"/>
          </a:xfrm>
          <a:custGeom>
            <a:rect b="b" l="l" r="r" t="t"/>
            <a:pathLst>
              <a:path extrusionOk="0" h="5788660" w="12192000">
                <a:moveTo>
                  <a:pt x="12192000" y="0"/>
                </a:moveTo>
                <a:lnTo>
                  <a:pt x="0" y="0"/>
                </a:lnTo>
                <a:lnTo>
                  <a:pt x="0" y="5788372"/>
                </a:lnTo>
                <a:lnTo>
                  <a:pt x="12192000" y="5788372"/>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2" name="Google Shape;102;p5"/>
          <p:cNvSpPr txBox="1"/>
          <p:nvPr/>
        </p:nvSpPr>
        <p:spPr>
          <a:xfrm>
            <a:off x="652049" y="2569971"/>
            <a:ext cx="979169" cy="821055"/>
          </a:xfrm>
          <a:prstGeom prst="rect">
            <a:avLst/>
          </a:prstGeom>
          <a:noFill/>
          <a:ln>
            <a:noFill/>
          </a:ln>
        </p:spPr>
        <p:txBody>
          <a:bodyPr anchorCtr="0" anchor="t" bIns="0" lIns="0" spcFirstLastPara="1" rIns="0" wrap="square" tIns="73650">
            <a:spAutoFit/>
          </a:bodyPr>
          <a:lstStyle/>
          <a:p>
            <a:pPr indent="0" lvl="0" marL="12700" marR="11430" rtl="0" algn="l">
              <a:lnSpc>
                <a:spcPct val="103571"/>
              </a:lnSpc>
              <a:spcBef>
                <a:spcPts val="0"/>
              </a:spcBef>
              <a:spcAft>
                <a:spcPts val="0"/>
              </a:spcAft>
              <a:buNone/>
            </a:pPr>
            <a:r>
              <a:rPr lang="en-US" sz="2800">
                <a:latin typeface="Calibri"/>
                <a:ea typeface="Calibri"/>
                <a:cs typeface="Calibri"/>
                <a:sym typeface="Calibri"/>
              </a:rPr>
              <a:t>Priority Metrics</a:t>
            </a:r>
            <a:endParaRPr sz="2800">
              <a:latin typeface="Calibri"/>
              <a:ea typeface="Calibri"/>
              <a:cs typeface="Calibri"/>
              <a:sym typeface="Calibri"/>
            </a:endParaRPr>
          </a:p>
        </p:txBody>
      </p:sp>
      <p:graphicFrame>
        <p:nvGraphicFramePr>
          <p:cNvPr id="103" name="Google Shape;103;p5"/>
          <p:cNvGraphicFramePr/>
          <p:nvPr/>
        </p:nvGraphicFramePr>
        <p:xfrm>
          <a:off x="3319461" y="1267813"/>
          <a:ext cx="3000000" cy="3000000"/>
        </p:xfrm>
        <a:graphic>
          <a:graphicData uri="http://schemas.openxmlformats.org/drawingml/2006/table">
            <a:tbl>
              <a:tblPr bandRow="1" firstRow="1">
                <a:noFill/>
                <a:tableStyleId>{E01971AF-395C-42FA-B1C8-179F3ABD0C67}</a:tableStyleId>
              </a:tblPr>
              <a:tblGrid>
                <a:gridCol w="3776975"/>
                <a:gridCol w="3776975"/>
              </a:tblGrid>
              <a:tr h="1887850">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2155"/>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2000" u="none" cap="none" strike="noStrike">
                          <a:latin typeface="Calibri"/>
                          <a:ea typeface="Calibri"/>
                          <a:cs typeface="Calibri"/>
                          <a:sym typeface="Calibri"/>
                        </a:rPr>
                        <a:t>LOW/NOT A PRIORITY</a:t>
                      </a:r>
                      <a:endParaRPr sz="20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0" lvl="0" marL="0" marR="0" rtl="0" algn="l">
                        <a:lnSpc>
                          <a:spcPct val="100000"/>
                        </a:lnSpc>
                        <a:spcBef>
                          <a:spcPts val="0"/>
                        </a:spcBef>
                        <a:spcAft>
                          <a:spcPts val="0"/>
                        </a:spcAft>
                        <a:buNone/>
                      </a:pPr>
                      <a:r>
                        <a:t/>
                      </a:r>
                      <a:endParaRPr sz="2350" u="none" cap="none" strike="noStrike">
                        <a:latin typeface="Times New Roman"/>
                        <a:ea typeface="Times New Roman"/>
                        <a:cs typeface="Times New Roman"/>
                        <a:sym typeface="Times New Roman"/>
                      </a:endParaRPr>
                    </a:p>
                    <a:p>
                      <a:pPr indent="0" lvl="0" marL="0" marR="0" rtl="0" algn="l">
                        <a:lnSpc>
                          <a:spcPct val="100000"/>
                        </a:lnSpc>
                        <a:spcBef>
                          <a:spcPts val="1980"/>
                        </a:spcBef>
                        <a:spcAft>
                          <a:spcPts val="0"/>
                        </a:spcAft>
                        <a:buNone/>
                      </a:pPr>
                      <a:r>
                        <a:t/>
                      </a:r>
                      <a:endParaRPr sz="235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2350" u="none" cap="none" strike="noStrike">
                          <a:latin typeface="Calibri"/>
                          <a:ea typeface="Calibri"/>
                          <a:cs typeface="Calibri"/>
                          <a:sym typeface="Calibri"/>
                        </a:rPr>
                        <a:t>*</a:t>
                      </a:r>
                      <a:r>
                        <a:rPr lang="en-US" sz="2350" u="sng" cap="none" strike="noStrike">
                          <a:latin typeface="Calibri"/>
                          <a:ea typeface="Calibri"/>
                          <a:cs typeface="Calibri"/>
                          <a:sym typeface="Calibri"/>
                        </a:rPr>
                        <a:t>HIGH PRIORITY</a:t>
                      </a:r>
                      <a:endParaRPr sz="235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39610"/>
                    </a:solidFill>
                  </a:tcPr>
                </a:tc>
              </a:tr>
              <a:tr h="1887850">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6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2000" u="none" cap="none" strike="noStrike">
                          <a:latin typeface="Calibri"/>
                          <a:ea typeface="Calibri"/>
                          <a:cs typeface="Calibri"/>
                          <a:sym typeface="Calibri"/>
                        </a:rPr>
                        <a:t>NOT A PRIORITY</a:t>
                      </a:r>
                      <a:endParaRPr sz="20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565"/>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2000" u="none" cap="none" strike="noStrike">
                          <a:latin typeface="Calibri"/>
                          <a:ea typeface="Calibri"/>
                          <a:cs typeface="Calibri"/>
                          <a:sym typeface="Calibri"/>
                        </a:rPr>
                        <a:t>LOW PRIORITY</a:t>
                      </a:r>
                      <a:endParaRPr sz="20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r>
            </a:tbl>
          </a:graphicData>
        </a:graphic>
      </p:graphicFrame>
      <p:sp>
        <p:nvSpPr>
          <p:cNvPr id="104" name="Google Shape;104;p5"/>
          <p:cNvSpPr txBox="1"/>
          <p:nvPr/>
        </p:nvSpPr>
        <p:spPr>
          <a:xfrm rot="-5400000">
            <a:off x="1624157" y="3174055"/>
            <a:ext cx="2151380" cy="304800"/>
          </a:xfrm>
          <a:prstGeom prst="rect">
            <a:avLst/>
          </a:prstGeom>
          <a:noFill/>
          <a:ln>
            <a:noFill/>
          </a:ln>
        </p:spPr>
        <p:txBody>
          <a:bodyPr anchorCtr="0" anchor="t" bIns="0" lIns="0" spcFirstLastPara="1" rIns="0" wrap="square" tIns="1250">
            <a:spAutoFit/>
          </a:bodyPr>
          <a:lstStyle/>
          <a:p>
            <a:pPr indent="0" lvl="0" marL="12700" rtl="0" algn="l">
              <a:lnSpc>
                <a:spcPct val="100000"/>
              </a:lnSpc>
              <a:spcBef>
                <a:spcPts val="0"/>
              </a:spcBef>
              <a:spcAft>
                <a:spcPts val="0"/>
              </a:spcAft>
              <a:buNone/>
            </a:pPr>
            <a:r>
              <a:rPr lang="en-US" sz="1800">
                <a:latin typeface="Calibri"/>
                <a:ea typeface="Calibri"/>
                <a:cs typeface="Calibri"/>
                <a:sym typeface="Calibri"/>
              </a:rPr>
              <a:t>IMPORTANCE (Volume)</a:t>
            </a:r>
            <a:endParaRPr sz="1800">
              <a:latin typeface="Calibri"/>
              <a:ea typeface="Calibri"/>
              <a:cs typeface="Calibri"/>
              <a:sym typeface="Calibri"/>
            </a:endParaRPr>
          </a:p>
        </p:txBody>
      </p:sp>
      <p:sp>
        <p:nvSpPr>
          <p:cNvPr id="105" name="Google Shape;105;p5"/>
          <p:cNvSpPr txBox="1"/>
          <p:nvPr/>
        </p:nvSpPr>
        <p:spPr>
          <a:xfrm>
            <a:off x="5852504" y="5367020"/>
            <a:ext cx="235648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libri"/>
                <a:ea typeface="Calibri"/>
                <a:cs typeface="Calibri"/>
                <a:sym typeface="Calibri"/>
              </a:rPr>
              <a:t>URGENCY (Time to Close)</a:t>
            </a:r>
            <a:endParaRPr sz="1800">
              <a:latin typeface="Calibri"/>
              <a:ea typeface="Calibri"/>
              <a:cs typeface="Calibri"/>
              <a:sym typeface="Calibri"/>
            </a:endParaRPr>
          </a:p>
        </p:txBody>
      </p:sp>
      <p:sp>
        <p:nvSpPr>
          <p:cNvPr id="106" name="Google Shape;106;p5"/>
          <p:cNvSpPr/>
          <p:nvPr/>
        </p:nvSpPr>
        <p:spPr>
          <a:xfrm>
            <a:off x="2898101" y="1274127"/>
            <a:ext cx="8014970" cy="4135120"/>
          </a:xfrm>
          <a:custGeom>
            <a:rect b="b" l="l" r="r" t="t"/>
            <a:pathLst>
              <a:path extrusionOk="0" h="4135120" w="8014970">
                <a:moveTo>
                  <a:pt x="107022" y="91744"/>
                </a:moveTo>
                <a:lnTo>
                  <a:pt x="62661" y="15697"/>
                </a:lnTo>
                <a:lnTo>
                  <a:pt x="53517" y="0"/>
                </a:lnTo>
                <a:lnTo>
                  <a:pt x="0" y="91744"/>
                </a:lnTo>
                <a:lnTo>
                  <a:pt x="1270" y="96608"/>
                </a:lnTo>
                <a:lnTo>
                  <a:pt x="8851" y="101028"/>
                </a:lnTo>
                <a:lnTo>
                  <a:pt x="13716" y="99745"/>
                </a:lnTo>
                <a:lnTo>
                  <a:pt x="45567" y="45123"/>
                </a:lnTo>
                <a:lnTo>
                  <a:pt x="45567" y="3889184"/>
                </a:lnTo>
                <a:lnTo>
                  <a:pt x="61442" y="3889184"/>
                </a:lnTo>
                <a:lnTo>
                  <a:pt x="61442" y="45123"/>
                </a:lnTo>
                <a:lnTo>
                  <a:pt x="61442" y="19761"/>
                </a:lnTo>
                <a:lnTo>
                  <a:pt x="61455" y="15697"/>
                </a:lnTo>
                <a:lnTo>
                  <a:pt x="61455" y="45123"/>
                </a:lnTo>
                <a:lnTo>
                  <a:pt x="93319" y="99745"/>
                </a:lnTo>
                <a:lnTo>
                  <a:pt x="98171" y="101028"/>
                </a:lnTo>
                <a:lnTo>
                  <a:pt x="105752" y="96608"/>
                </a:lnTo>
                <a:lnTo>
                  <a:pt x="107022" y="91744"/>
                </a:lnTo>
                <a:close/>
              </a:path>
              <a:path extrusionOk="0" h="4135120" w="8014970">
                <a:moveTo>
                  <a:pt x="8014398" y="4081589"/>
                </a:moveTo>
                <a:lnTo>
                  <a:pt x="8000797" y="4073652"/>
                </a:lnTo>
                <a:lnTo>
                  <a:pt x="7922666" y="4028071"/>
                </a:lnTo>
                <a:lnTo>
                  <a:pt x="7917802" y="4029354"/>
                </a:lnTo>
                <a:lnTo>
                  <a:pt x="7913383" y="4036923"/>
                </a:lnTo>
                <a:lnTo>
                  <a:pt x="7914665" y="4041787"/>
                </a:lnTo>
                <a:lnTo>
                  <a:pt x="7969288" y="4073652"/>
                </a:lnTo>
                <a:lnTo>
                  <a:pt x="187185" y="4073652"/>
                </a:lnTo>
                <a:lnTo>
                  <a:pt x="187185" y="4089527"/>
                </a:lnTo>
                <a:lnTo>
                  <a:pt x="7969288" y="4089527"/>
                </a:lnTo>
                <a:lnTo>
                  <a:pt x="7914665" y="4121391"/>
                </a:lnTo>
                <a:lnTo>
                  <a:pt x="7913383" y="4126255"/>
                </a:lnTo>
                <a:lnTo>
                  <a:pt x="7917802" y="4133824"/>
                </a:lnTo>
                <a:lnTo>
                  <a:pt x="7922666" y="4135107"/>
                </a:lnTo>
                <a:lnTo>
                  <a:pt x="8000797" y="4089527"/>
                </a:lnTo>
                <a:lnTo>
                  <a:pt x="8014398" y="4081589"/>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descr="$PPTXTitle" id="107" name="Google Shape;107;p5"/>
          <p:cNvSpPr txBox="1"/>
          <p:nvPr>
            <p:ph type="title"/>
          </p:nvPr>
        </p:nvSpPr>
        <p:spPr>
          <a:xfrm>
            <a:off x="2611541" y="511515"/>
            <a:ext cx="8990965" cy="3543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2150"/>
              <a:t>What make a service category more important and more urgent than others?</a:t>
            </a:r>
            <a:endParaRPr sz="215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p:nvPr/>
        </p:nvSpPr>
        <p:spPr>
          <a:xfrm>
            <a:off x="0" y="0"/>
            <a:ext cx="12192000" cy="5788660"/>
          </a:xfrm>
          <a:custGeom>
            <a:rect b="b" l="l" r="r" t="t"/>
            <a:pathLst>
              <a:path extrusionOk="0" h="5788660" w="12192000">
                <a:moveTo>
                  <a:pt x="12192000" y="0"/>
                </a:moveTo>
                <a:lnTo>
                  <a:pt x="0" y="0"/>
                </a:lnTo>
                <a:lnTo>
                  <a:pt x="0" y="5788372"/>
                </a:lnTo>
                <a:lnTo>
                  <a:pt x="12192000" y="5788372"/>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3" name="Google Shape;113;p6"/>
          <p:cNvSpPr txBox="1"/>
          <p:nvPr/>
        </p:nvSpPr>
        <p:spPr>
          <a:xfrm>
            <a:off x="463550" y="2569971"/>
            <a:ext cx="1362710" cy="821055"/>
          </a:xfrm>
          <a:prstGeom prst="rect">
            <a:avLst/>
          </a:prstGeom>
          <a:noFill/>
          <a:ln>
            <a:noFill/>
          </a:ln>
        </p:spPr>
        <p:txBody>
          <a:bodyPr anchorCtr="0" anchor="t" bIns="0" lIns="0" spcFirstLastPara="1" rIns="0" wrap="square" tIns="73650">
            <a:spAutoFit/>
          </a:bodyPr>
          <a:lstStyle/>
          <a:p>
            <a:pPr indent="0" lvl="0" marL="12700" marR="5080" rtl="0" algn="l">
              <a:lnSpc>
                <a:spcPct val="103571"/>
              </a:lnSpc>
              <a:spcBef>
                <a:spcPts val="0"/>
              </a:spcBef>
              <a:spcAft>
                <a:spcPts val="0"/>
              </a:spcAft>
              <a:buNone/>
            </a:pPr>
            <a:r>
              <a:rPr lang="en-US" sz="2800">
                <a:latin typeface="Calibri"/>
                <a:ea typeface="Calibri"/>
                <a:cs typeface="Calibri"/>
                <a:sym typeface="Calibri"/>
              </a:rPr>
              <a:t>Priority Categories</a:t>
            </a:r>
            <a:endParaRPr sz="2800">
              <a:latin typeface="Calibri"/>
              <a:ea typeface="Calibri"/>
              <a:cs typeface="Calibri"/>
              <a:sym typeface="Calibri"/>
            </a:endParaRPr>
          </a:p>
        </p:txBody>
      </p:sp>
      <p:grpSp>
        <p:nvGrpSpPr>
          <p:cNvPr id="114" name="Google Shape;114;p6"/>
          <p:cNvGrpSpPr/>
          <p:nvPr/>
        </p:nvGrpSpPr>
        <p:grpSpPr>
          <a:xfrm>
            <a:off x="3107843" y="714374"/>
            <a:ext cx="7978574" cy="4240657"/>
            <a:chOff x="3107843" y="714374"/>
            <a:chExt cx="7978574" cy="4240657"/>
          </a:xfrm>
        </p:grpSpPr>
        <p:sp>
          <p:nvSpPr>
            <p:cNvPr id="115" name="Google Shape;115;p6"/>
            <p:cNvSpPr/>
            <p:nvPr/>
          </p:nvSpPr>
          <p:spPr>
            <a:xfrm>
              <a:off x="3138122" y="714375"/>
              <a:ext cx="7948295" cy="4220210"/>
            </a:xfrm>
            <a:custGeom>
              <a:rect b="b" l="l" r="r" t="t"/>
              <a:pathLst>
                <a:path extrusionOk="0" h="4220210" w="7948295">
                  <a:moveTo>
                    <a:pt x="0" y="0"/>
                  </a:moveTo>
                  <a:lnTo>
                    <a:pt x="7947862" y="0"/>
                  </a:lnTo>
                  <a:lnTo>
                    <a:pt x="7947862" y="4220199"/>
                  </a:lnTo>
                  <a:lnTo>
                    <a:pt x="0" y="4220199"/>
                  </a:lnTo>
                  <a:lnTo>
                    <a:pt x="0" y="0"/>
                  </a:lnTo>
                  <a:close/>
                </a:path>
              </a:pathLst>
            </a:custGeom>
            <a:noFill/>
            <a:ln cap="flat" cmpd="sng" w="158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6" name="Google Shape;116;p6"/>
            <p:cNvSpPr/>
            <p:nvPr/>
          </p:nvSpPr>
          <p:spPr>
            <a:xfrm>
              <a:off x="3138122" y="714374"/>
              <a:ext cx="7948295" cy="4220210"/>
            </a:xfrm>
            <a:custGeom>
              <a:rect b="b" l="l" r="r" t="t"/>
              <a:pathLst>
                <a:path extrusionOk="0" h="4220210" w="7948295">
                  <a:moveTo>
                    <a:pt x="0" y="4220199"/>
                  </a:moveTo>
                  <a:lnTo>
                    <a:pt x="1" y="0"/>
                  </a:lnTo>
                </a:path>
                <a:path extrusionOk="0" h="4220210" w="7948295">
                  <a:moveTo>
                    <a:pt x="0" y="4220199"/>
                  </a:moveTo>
                  <a:lnTo>
                    <a:pt x="7947862" y="4220198"/>
                  </a:lnTo>
                </a:path>
              </a:pathLst>
            </a:custGeom>
            <a:noFill/>
            <a:ln cap="flat" cmpd="sng" w="9525">
              <a:solidFill>
                <a:srgbClr val="BFBFB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17" name="Google Shape;117;p6"/>
            <p:cNvPicPr preferRelativeResize="0"/>
            <p:nvPr/>
          </p:nvPicPr>
          <p:blipFill rotWithShape="1">
            <a:blip r:embed="rId3">
              <a:alphaModFix/>
            </a:blip>
            <a:srcRect b="0" l="0" r="0" t="0"/>
            <a:stretch/>
          </p:blipFill>
          <p:spPr>
            <a:xfrm>
              <a:off x="3107843" y="1065402"/>
              <a:ext cx="64008" cy="64008"/>
            </a:xfrm>
            <a:prstGeom prst="rect">
              <a:avLst/>
            </a:prstGeom>
            <a:noFill/>
            <a:ln>
              <a:noFill/>
            </a:ln>
          </p:spPr>
        </p:pic>
        <p:pic>
          <p:nvPicPr>
            <p:cNvPr id="118" name="Google Shape;118;p6"/>
            <p:cNvPicPr preferRelativeResize="0"/>
            <p:nvPr/>
          </p:nvPicPr>
          <p:blipFill rotWithShape="1">
            <a:blip r:embed="rId3">
              <a:alphaModFix/>
            </a:blip>
            <a:srcRect b="0" l="0" r="0" t="0"/>
            <a:stretch/>
          </p:blipFill>
          <p:spPr>
            <a:xfrm>
              <a:off x="3171851" y="2107819"/>
              <a:ext cx="64007" cy="64007"/>
            </a:xfrm>
            <a:prstGeom prst="rect">
              <a:avLst/>
            </a:prstGeom>
            <a:noFill/>
            <a:ln>
              <a:noFill/>
            </a:ln>
          </p:spPr>
        </p:pic>
        <p:pic>
          <p:nvPicPr>
            <p:cNvPr id="119" name="Google Shape;119;p6"/>
            <p:cNvPicPr preferRelativeResize="0"/>
            <p:nvPr/>
          </p:nvPicPr>
          <p:blipFill rotWithShape="1">
            <a:blip r:embed="rId3">
              <a:alphaModFix/>
            </a:blip>
            <a:srcRect b="0" l="0" r="0" t="0"/>
            <a:stretch/>
          </p:blipFill>
          <p:spPr>
            <a:xfrm>
              <a:off x="3171851" y="3061842"/>
              <a:ext cx="64007" cy="64008"/>
            </a:xfrm>
            <a:prstGeom prst="rect">
              <a:avLst/>
            </a:prstGeom>
            <a:noFill/>
            <a:ln>
              <a:noFill/>
            </a:ln>
          </p:spPr>
        </p:pic>
        <p:pic>
          <p:nvPicPr>
            <p:cNvPr id="120" name="Google Shape;120;p6"/>
            <p:cNvPicPr preferRelativeResize="0"/>
            <p:nvPr/>
          </p:nvPicPr>
          <p:blipFill rotWithShape="1">
            <a:blip r:embed="rId4">
              <a:alphaModFix/>
            </a:blip>
            <a:srcRect b="0" l="0" r="0" t="0"/>
            <a:stretch/>
          </p:blipFill>
          <p:spPr>
            <a:xfrm>
              <a:off x="3238907" y="4128642"/>
              <a:ext cx="64007" cy="64007"/>
            </a:xfrm>
            <a:prstGeom prst="rect">
              <a:avLst/>
            </a:prstGeom>
            <a:noFill/>
            <a:ln>
              <a:noFill/>
            </a:ln>
          </p:spPr>
        </p:pic>
        <p:pic>
          <p:nvPicPr>
            <p:cNvPr id="121" name="Google Shape;121;p6"/>
            <p:cNvPicPr preferRelativeResize="0"/>
            <p:nvPr/>
          </p:nvPicPr>
          <p:blipFill rotWithShape="1">
            <a:blip r:embed="rId5">
              <a:alphaModFix/>
            </a:blip>
            <a:srcRect b="0" l="0" r="0" t="0"/>
            <a:stretch/>
          </p:blipFill>
          <p:spPr>
            <a:xfrm>
              <a:off x="3369971" y="4302378"/>
              <a:ext cx="64008" cy="64007"/>
            </a:xfrm>
            <a:prstGeom prst="rect">
              <a:avLst/>
            </a:prstGeom>
            <a:noFill/>
            <a:ln>
              <a:noFill/>
            </a:ln>
          </p:spPr>
        </p:pic>
        <p:pic>
          <p:nvPicPr>
            <p:cNvPr id="122" name="Google Shape;122;p6"/>
            <p:cNvPicPr preferRelativeResize="0"/>
            <p:nvPr/>
          </p:nvPicPr>
          <p:blipFill rotWithShape="1">
            <a:blip r:embed="rId5">
              <a:alphaModFix/>
            </a:blip>
            <a:srcRect b="0" l="0" r="0" t="0"/>
            <a:stretch/>
          </p:blipFill>
          <p:spPr>
            <a:xfrm>
              <a:off x="3138323" y="4396866"/>
              <a:ext cx="64007" cy="64007"/>
            </a:xfrm>
            <a:prstGeom prst="rect">
              <a:avLst/>
            </a:prstGeom>
            <a:noFill/>
            <a:ln>
              <a:noFill/>
            </a:ln>
          </p:spPr>
        </p:pic>
        <p:pic>
          <p:nvPicPr>
            <p:cNvPr id="123" name="Google Shape;123;p6"/>
            <p:cNvPicPr preferRelativeResize="0"/>
            <p:nvPr/>
          </p:nvPicPr>
          <p:blipFill rotWithShape="1">
            <a:blip r:embed="rId3">
              <a:alphaModFix/>
            </a:blip>
            <a:srcRect b="0" l="0" r="0" t="0"/>
            <a:stretch/>
          </p:blipFill>
          <p:spPr>
            <a:xfrm>
              <a:off x="3403499" y="4534027"/>
              <a:ext cx="64008" cy="64008"/>
            </a:xfrm>
            <a:prstGeom prst="rect">
              <a:avLst/>
            </a:prstGeom>
            <a:noFill/>
            <a:ln>
              <a:noFill/>
            </a:ln>
          </p:spPr>
        </p:pic>
        <p:sp>
          <p:nvSpPr>
            <p:cNvPr id="124" name="Google Shape;124;p6"/>
            <p:cNvSpPr/>
            <p:nvPr/>
          </p:nvSpPr>
          <p:spPr>
            <a:xfrm>
              <a:off x="3205378" y="4610226"/>
              <a:ext cx="97790" cy="128270"/>
            </a:xfrm>
            <a:custGeom>
              <a:rect b="b" l="l" r="r" t="t"/>
              <a:pathLst>
                <a:path extrusionOk="0" h="128270" w="97789">
                  <a:moveTo>
                    <a:pt x="64008" y="32004"/>
                  </a:moveTo>
                  <a:lnTo>
                    <a:pt x="61493" y="19558"/>
                  </a:lnTo>
                  <a:lnTo>
                    <a:pt x="54635" y="9385"/>
                  </a:lnTo>
                  <a:lnTo>
                    <a:pt x="44462" y="2527"/>
                  </a:lnTo>
                  <a:lnTo>
                    <a:pt x="32004" y="0"/>
                  </a:lnTo>
                  <a:lnTo>
                    <a:pt x="19545" y="2527"/>
                  </a:lnTo>
                  <a:lnTo>
                    <a:pt x="9372" y="9385"/>
                  </a:lnTo>
                  <a:lnTo>
                    <a:pt x="2514" y="19558"/>
                  </a:lnTo>
                  <a:lnTo>
                    <a:pt x="0" y="32004"/>
                  </a:lnTo>
                  <a:lnTo>
                    <a:pt x="2514" y="44462"/>
                  </a:lnTo>
                  <a:lnTo>
                    <a:pt x="9372" y="54635"/>
                  </a:lnTo>
                  <a:lnTo>
                    <a:pt x="19545" y="61493"/>
                  </a:lnTo>
                  <a:lnTo>
                    <a:pt x="32004" y="64008"/>
                  </a:lnTo>
                  <a:lnTo>
                    <a:pt x="44462" y="61493"/>
                  </a:lnTo>
                  <a:lnTo>
                    <a:pt x="54635" y="54635"/>
                  </a:lnTo>
                  <a:lnTo>
                    <a:pt x="61493" y="44462"/>
                  </a:lnTo>
                  <a:lnTo>
                    <a:pt x="64008" y="32004"/>
                  </a:lnTo>
                  <a:close/>
                </a:path>
                <a:path extrusionOk="0" h="128270" w="97789">
                  <a:moveTo>
                    <a:pt x="97536" y="96012"/>
                  </a:moveTo>
                  <a:lnTo>
                    <a:pt x="95021" y="83566"/>
                  </a:lnTo>
                  <a:lnTo>
                    <a:pt x="88163" y="73393"/>
                  </a:lnTo>
                  <a:lnTo>
                    <a:pt x="77990" y="66535"/>
                  </a:lnTo>
                  <a:lnTo>
                    <a:pt x="65532" y="64008"/>
                  </a:lnTo>
                  <a:lnTo>
                    <a:pt x="53073" y="66535"/>
                  </a:lnTo>
                  <a:lnTo>
                    <a:pt x="42900" y="73393"/>
                  </a:lnTo>
                  <a:lnTo>
                    <a:pt x="36042" y="83566"/>
                  </a:lnTo>
                  <a:lnTo>
                    <a:pt x="33528" y="96012"/>
                  </a:lnTo>
                  <a:lnTo>
                    <a:pt x="36042" y="108470"/>
                  </a:lnTo>
                  <a:lnTo>
                    <a:pt x="42900" y="118643"/>
                  </a:lnTo>
                  <a:lnTo>
                    <a:pt x="53073" y="125501"/>
                  </a:lnTo>
                  <a:lnTo>
                    <a:pt x="65532" y="128016"/>
                  </a:lnTo>
                  <a:lnTo>
                    <a:pt x="77990" y="125501"/>
                  </a:lnTo>
                  <a:lnTo>
                    <a:pt x="88163" y="118643"/>
                  </a:lnTo>
                  <a:lnTo>
                    <a:pt x="95021" y="108470"/>
                  </a:lnTo>
                  <a:lnTo>
                    <a:pt x="97536" y="96012"/>
                  </a:lnTo>
                  <a:close/>
                </a:path>
              </a:pathLst>
            </a:custGeom>
            <a:solidFill>
              <a:srgbClr val="FF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5" name="Google Shape;125;p6"/>
            <p:cNvPicPr preferRelativeResize="0"/>
            <p:nvPr/>
          </p:nvPicPr>
          <p:blipFill rotWithShape="1">
            <a:blip r:embed="rId5">
              <a:alphaModFix/>
            </a:blip>
            <a:srcRect b="0" l="0" r="0" t="0"/>
            <a:stretch/>
          </p:blipFill>
          <p:spPr>
            <a:xfrm>
              <a:off x="10490100" y="4674234"/>
              <a:ext cx="64007" cy="64007"/>
            </a:xfrm>
            <a:prstGeom prst="rect">
              <a:avLst/>
            </a:prstGeom>
            <a:noFill/>
            <a:ln>
              <a:noFill/>
            </a:ln>
          </p:spPr>
        </p:pic>
        <p:pic>
          <p:nvPicPr>
            <p:cNvPr id="126" name="Google Shape;126;p6"/>
            <p:cNvPicPr preferRelativeResize="0"/>
            <p:nvPr/>
          </p:nvPicPr>
          <p:blipFill rotWithShape="1">
            <a:blip r:embed="rId5">
              <a:alphaModFix/>
            </a:blip>
            <a:srcRect b="0" l="0" r="0" t="0"/>
            <a:stretch/>
          </p:blipFill>
          <p:spPr>
            <a:xfrm>
              <a:off x="3107843" y="4710810"/>
              <a:ext cx="64008" cy="64007"/>
            </a:xfrm>
            <a:prstGeom prst="rect">
              <a:avLst/>
            </a:prstGeom>
            <a:noFill/>
            <a:ln>
              <a:noFill/>
            </a:ln>
          </p:spPr>
        </p:pic>
        <p:pic>
          <p:nvPicPr>
            <p:cNvPr id="127" name="Google Shape;127;p6"/>
            <p:cNvPicPr preferRelativeResize="0"/>
            <p:nvPr/>
          </p:nvPicPr>
          <p:blipFill rotWithShape="1">
            <a:blip r:embed="rId3">
              <a:alphaModFix/>
            </a:blip>
            <a:srcRect b="0" l="0" r="0" t="0"/>
            <a:stretch/>
          </p:blipFill>
          <p:spPr>
            <a:xfrm>
              <a:off x="3604667" y="4738242"/>
              <a:ext cx="64007" cy="64007"/>
            </a:xfrm>
            <a:prstGeom prst="rect">
              <a:avLst/>
            </a:prstGeom>
            <a:noFill/>
            <a:ln>
              <a:noFill/>
            </a:ln>
          </p:spPr>
        </p:pic>
        <p:sp>
          <p:nvSpPr>
            <p:cNvPr id="128" name="Google Shape;128;p6"/>
            <p:cNvSpPr/>
            <p:nvPr/>
          </p:nvSpPr>
          <p:spPr>
            <a:xfrm>
              <a:off x="3238906" y="4753482"/>
              <a:ext cx="131445" cy="180340"/>
            </a:xfrm>
            <a:custGeom>
              <a:rect b="b" l="l" r="r" t="t"/>
              <a:pathLst>
                <a:path extrusionOk="0" h="180339" w="131445">
                  <a:moveTo>
                    <a:pt x="64008" y="147828"/>
                  </a:moveTo>
                  <a:lnTo>
                    <a:pt x="61493" y="135382"/>
                  </a:lnTo>
                  <a:lnTo>
                    <a:pt x="54635" y="125209"/>
                  </a:lnTo>
                  <a:lnTo>
                    <a:pt x="44462" y="118351"/>
                  </a:lnTo>
                  <a:lnTo>
                    <a:pt x="32004" y="115824"/>
                  </a:lnTo>
                  <a:lnTo>
                    <a:pt x="19545" y="118351"/>
                  </a:lnTo>
                  <a:lnTo>
                    <a:pt x="9372" y="125209"/>
                  </a:lnTo>
                  <a:lnTo>
                    <a:pt x="2514" y="135382"/>
                  </a:lnTo>
                  <a:lnTo>
                    <a:pt x="0" y="147828"/>
                  </a:lnTo>
                  <a:lnTo>
                    <a:pt x="2514" y="160286"/>
                  </a:lnTo>
                  <a:lnTo>
                    <a:pt x="9372" y="170459"/>
                  </a:lnTo>
                  <a:lnTo>
                    <a:pt x="19545" y="177317"/>
                  </a:lnTo>
                  <a:lnTo>
                    <a:pt x="32004" y="179832"/>
                  </a:lnTo>
                  <a:lnTo>
                    <a:pt x="44462" y="177317"/>
                  </a:lnTo>
                  <a:lnTo>
                    <a:pt x="54635" y="170459"/>
                  </a:lnTo>
                  <a:lnTo>
                    <a:pt x="61493" y="160286"/>
                  </a:lnTo>
                  <a:lnTo>
                    <a:pt x="64008" y="147828"/>
                  </a:lnTo>
                  <a:close/>
                </a:path>
                <a:path extrusionOk="0" h="180339" w="131445">
                  <a:moveTo>
                    <a:pt x="131064" y="32004"/>
                  </a:moveTo>
                  <a:lnTo>
                    <a:pt x="128549" y="19558"/>
                  </a:lnTo>
                  <a:lnTo>
                    <a:pt x="121691" y="9385"/>
                  </a:lnTo>
                  <a:lnTo>
                    <a:pt x="111518" y="2527"/>
                  </a:lnTo>
                  <a:lnTo>
                    <a:pt x="99060" y="0"/>
                  </a:lnTo>
                  <a:lnTo>
                    <a:pt x="86601" y="2527"/>
                  </a:lnTo>
                  <a:lnTo>
                    <a:pt x="76428" y="9385"/>
                  </a:lnTo>
                  <a:lnTo>
                    <a:pt x="69570" y="19558"/>
                  </a:lnTo>
                  <a:lnTo>
                    <a:pt x="67056" y="32004"/>
                  </a:lnTo>
                  <a:lnTo>
                    <a:pt x="69570" y="44462"/>
                  </a:lnTo>
                  <a:lnTo>
                    <a:pt x="76428" y="54635"/>
                  </a:lnTo>
                  <a:lnTo>
                    <a:pt x="86601" y="61493"/>
                  </a:lnTo>
                  <a:lnTo>
                    <a:pt x="99060" y="64008"/>
                  </a:lnTo>
                  <a:lnTo>
                    <a:pt x="111518" y="61493"/>
                  </a:lnTo>
                  <a:lnTo>
                    <a:pt x="121691" y="54635"/>
                  </a:lnTo>
                  <a:lnTo>
                    <a:pt x="128549" y="44462"/>
                  </a:lnTo>
                  <a:lnTo>
                    <a:pt x="131064" y="32004"/>
                  </a:lnTo>
                  <a:close/>
                </a:path>
              </a:pathLst>
            </a:custGeom>
            <a:solidFill>
              <a:srgbClr val="FF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9" name="Google Shape;129;p6"/>
            <p:cNvPicPr preferRelativeResize="0"/>
            <p:nvPr/>
          </p:nvPicPr>
          <p:blipFill rotWithShape="1">
            <a:blip r:embed="rId5">
              <a:alphaModFix/>
            </a:blip>
            <a:srcRect b="0" l="0" r="0" t="0"/>
            <a:stretch/>
          </p:blipFill>
          <p:spPr>
            <a:xfrm>
              <a:off x="3369971" y="4869307"/>
              <a:ext cx="64008" cy="64007"/>
            </a:xfrm>
            <a:prstGeom prst="rect">
              <a:avLst/>
            </a:prstGeom>
            <a:noFill/>
            <a:ln>
              <a:noFill/>
            </a:ln>
          </p:spPr>
        </p:pic>
        <p:sp>
          <p:nvSpPr>
            <p:cNvPr id="130" name="Google Shape;130;p6"/>
            <p:cNvSpPr/>
            <p:nvPr/>
          </p:nvSpPr>
          <p:spPr>
            <a:xfrm>
              <a:off x="3205378" y="4884546"/>
              <a:ext cx="561340" cy="70485"/>
            </a:xfrm>
            <a:custGeom>
              <a:rect b="b" l="l" r="r" t="t"/>
              <a:pathLst>
                <a:path extrusionOk="0" h="70485" w="561339">
                  <a:moveTo>
                    <a:pt x="64008" y="32004"/>
                  </a:moveTo>
                  <a:lnTo>
                    <a:pt x="61493" y="19558"/>
                  </a:lnTo>
                  <a:lnTo>
                    <a:pt x="54635" y="9385"/>
                  </a:lnTo>
                  <a:lnTo>
                    <a:pt x="44462" y="2527"/>
                  </a:lnTo>
                  <a:lnTo>
                    <a:pt x="32004" y="0"/>
                  </a:lnTo>
                  <a:lnTo>
                    <a:pt x="19545" y="2527"/>
                  </a:lnTo>
                  <a:lnTo>
                    <a:pt x="9372" y="9385"/>
                  </a:lnTo>
                  <a:lnTo>
                    <a:pt x="2514" y="19558"/>
                  </a:lnTo>
                  <a:lnTo>
                    <a:pt x="0" y="32004"/>
                  </a:lnTo>
                  <a:lnTo>
                    <a:pt x="2514" y="44462"/>
                  </a:lnTo>
                  <a:lnTo>
                    <a:pt x="9372" y="54635"/>
                  </a:lnTo>
                  <a:lnTo>
                    <a:pt x="19545" y="61493"/>
                  </a:lnTo>
                  <a:lnTo>
                    <a:pt x="32004" y="64008"/>
                  </a:lnTo>
                  <a:lnTo>
                    <a:pt x="44462" y="61493"/>
                  </a:lnTo>
                  <a:lnTo>
                    <a:pt x="54635" y="54635"/>
                  </a:lnTo>
                  <a:lnTo>
                    <a:pt x="61493" y="44462"/>
                  </a:lnTo>
                  <a:lnTo>
                    <a:pt x="64008" y="32004"/>
                  </a:lnTo>
                  <a:close/>
                </a:path>
                <a:path extrusionOk="0" h="70485" w="561339">
                  <a:moveTo>
                    <a:pt x="131064" y="35052"/>
                  </a:moveTo>
                  <a:lnTo>
                    <a:pt x="128549" y="22606"/>
                  </a:lnTo>
                  <a:lnTo>
                    <a:pt x="121691" y="12433"/>
                  </a:lnTo>
                  <a:lnTo>
                    <a:pt x="111518" y="5575"/>
                  </a:lnTo>
                  <a:lnTo>
                    <a:pt x="99060" y="3048"/>
                  </a:lnTo>
                  <a:lnTo>
                    <a:pt x="86601" y="5575"/>
                  </a:lnTo>
                  <a:lnTo>
                    <a:pt x="76428" y="12433"/>
                  </a:lnTo>
                  <a:lnTo>
                    <a:pt x="69570" y="22606"/>
                  </a:lnTo>
                  <a:lnTo>
                    <a:pt x="67056" y="35052"/>
                  </a:lnTo>
                  <a:lnTo>
                    <a:pt x="69570" y="47510"/>
                  </a:lnTo>
                  <a:lnTo>
                    <a:pt x="76428" y="57683"/>
                  </a:lnTo>
                  <a:lnTo>
                    <a:pt x="86601" y="64541"/>
                  </a:lnTo>
                  <a:lnTo>
                    <a:pt x="99060" y="67056"/>
                  </a:lnTo>
                  <a:lnTo>
                    <a:pt x="111518" y="64541"/>
                  </a:lnTo>
                  <a:lnTo>
                    <a:pt x="121691" y="57683"/>
                  </a:lnTo>
                  <a:lnTo>
                    <a:pt x="128549" y="47510"/>
                  </a:lnTo>
                  <a:lnTo>
                    <a:pt x="131064" y="35052"/>
                  </a:lnTo>
                  <a:close/>
                </a:path>
                <a:path extrusionOk="0" h="70485" w="561339">
                  <a:moveTo>
                    <a:pt x="560832" y="38100"/>
                  </a:moveTo>
                  <a:lnTo>
                    <a:pt x="558317" y="25654"/>
                  </a:lnTo>
                  <a:lnTo>
                    <a:pt x="551459" y="15481"/>
                  </a:lnTo>
                  <a:lnTo>
                    <a:pt x="541286" y="8623"/>
                  </a:lnTo>
                  <a:lnTo>
                    <a:pt x="528828" y="6096"/>
                  </a:lnTo>
                  <a:lnTo>
                    <a:pt x="516699" y="8559"/>
                  </a:lnTo>
                  <a:lnTo>
                    <a:pt x="507758" y="2527"/>
                  </a:lnTo>
                  <a:lnTo>
                    <a:pt x="495300" y="0"/>
                  </a:lnTo>
                  <a:lnTo>
                    <a:pt x="482841" y="2527"/>
                  </a:lnTo>
                  <a:lnTo>
                    <a:pt x="472668" y="9385"/>
                  </a:lnTo>
                  <a:lnTo>
                    <a:pt x="465810" y="19558"/>
                  </a:lnTo>
                  <a:lnTo>
                    <a:pt x="463296" y="32004"/>
                  </a:lnTo>
                  <a:lnTo>
                    <a:pt x="465810" y="44462"/>
                  </a:lnTo>
                  <a:lnTo>
                    <a:pt x="472668" y="54635"/>
                  </a:lnTo>
                  <a:lnTo>
                    <a:pt x="482841" y="61493"/>
                  </a:lnTo>
                  <a:lnTo>
                    <a:pt x="495300" y="64008"/>
                  </a:lnTo>
                  <a:lnTo>
                    <a:pt x="507415" y="61569"/>
                  </a:lnTo>
                  <a:lnTo>
                    <a:pt x="516369" y="67589"/>
                  </a:lnTo>
                  <a:lnTo>
                    <a:pt x="528828" y="70104"/>
                  </a:lnTo>
                  <a:lnTo>
                    <a:pt x="541286" y="67589"/>
                  </a:lnTo>
                  <a:lnTo>
                    <a:pt x="551459" y="60731"/>
                  </a:lnTo>
                  <a:lnTo>
                    <a:pt x="558317" y="50558"/>
                  </a:lnTo>
                  <a:lnTo>
                    <a:pt x="560832" y="38100"/>
                  </a:lnTo>
                  <a:close/>
                </a:path>
              </a:pathLst>
            </a:custGeom>
            <a:solidFill>
              <a:srgbClr val="FF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31" name="Google Shape;131;p6"/>
            <p:cNvPicPr preferRelativeResize="0"/>
            <p:nvPr/>
          </p:nvPicPr>
          <p:blipFill rotWithShape="1">
            <a:blip r:embed="rId6">
              <a:alphaModFix/>
            </a:blip>
            <a:srcRect b="0" l="0" r="0" t="0"/>
            <a:stretch/>
          </p:blipFill>
          <p:spPr>
            <a:xfrm>
              <a:off x="3968495" y="2877311"/>
              <a:ext cx="64007" cy="64008"/>
            </a:xfrm>
            <a:prstGeom prst="rect">
              <a:avLst/>
            </a:prstGeom>
            <a:noFill/>
            <a:ln>
              <a:noFill/>
            </a:ln>
          </p:spPr>
        </p:pic>
        <p:pic>
          <p:nvPicPr>
            <p:cNvPr id="132" name="Google Shape;132;p6"/>
            <p:cNvPicPr preferRelativeResize="0"/>
            <p:nvPr/>
          </p:nvPicPr>
          <p:blipFill rotWithShape="1">
            <a:blip r:embed="rId5">
              <a:alphaModFix/>
            </a:blip>
            <a:srcRect b="0" l="0" r="0" t="0"/>
            <a:stretch/>
          </p:blipFill>
          <p:spPr>
            <a:xfrm>
              <a:off x="7013447" y="3343655"/>
              <a:ext cx="64007" cy="64008"/>
            </a:xfrm>
            <a:prstGeom prst="rect">
              <a:avLst/>
            </a:prstGeom>
            <a:noFill/>
            <a:ln>
              <a:noFill/>
            </a:ln>
          </p:spPr>
        </p:pic>
        <p:pic>
          <p:nvPicPr>
            <p:cNvPr id="133" name="Google Shape;133;p6"/>
            <p:cNvPicPr preferRelativeResize="0"/>
            <p:nvPr/>
          </p:nvPicPr>
          <p:blipFill rotWithShape="1">
            <a:blip r:embed="rId3">
              <a:alphaModFix/>
            </a:blip>
            <a:srcRect b="0" l="0" r="0" t="0"/>
            <a:stretch/>
          </p:blipFill>
          <p:spPr>
            <a:xfrm>
              <a:off x="3767327" y="3745992"/>
              <a:ext cx="64008" cy="64007"/>
            </a:xfrm>
            <a:prstGeom prst="rect">
              <a:avLst/>
            </a:prstGeom>
            <a:noFill/>
            <a:ln>
              <a:noFill/>
            </a:ln>
          </p:spPr>
        </p:pic>
        <p:pic>
          <p:nvPicPr>
            <p:cNvPr id="134" name="Google Shape;134;p6"/>
            <p:cNvPicPr preferRelativeResize="0"/>
            <p:nvPr/>
          </p:nvPicPr>
          <p:blipFill rotWithShape="1">
            <a:blip r:embed="rId5">
              <a:alphaModFix/>
            </a:blip>
            <a:srcRect b="0" l="0" r="0" t="0"/>
            <a:stretch/>
          </p:blipFill>
          <p:spPr>
            <a:xfrm>
              <a:off x="7080503" y="4145279"/>
              <a:ext cx="64007" cy="64007"/>
            </a:xfrm>
            <a:prstGeom prst="rect">
              <a:avLst/>
            </a:prstGeom>
            <a:noFill/>
            <a:ln>
              <a:noFill/>
            </a:ln>
          </p:spPr>
        </p:pic>
      </p:grpSp>
      <p:sp>
        <p:nvSpPr>
          <p:cNvPr id="135" name="Google Shape;135;p6"/>
          <p:cNvSpPr txBox="1"/>
          <p:nvPr/>
        </p:nvSpPr>
        <p:spPr>
          <a:xfrm>
            <a:off x="2712430" y="3908552"/>
            <a:ext cx="343535"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40000</a:t>
            </a:r>
            <a:endParaRPr sz="900">
              <a:latin typeface="Tahoma"/>
              <a:ea typeface="Tahoma"/>
              <a:cs typeface="Tahoma"/>
              <a:sym typeface="Tahoma"/>
            </a:endParaRPr>
          </a:p>
        </p:txBody>
      </p:sp>
      <p:sp>
        <p:nvSpPr>
          <p:cNvPr id="136" name="Google Shape;136;p6"/>
          <p:cNvSpPr txBox="1"/>
          <p:nvPr/>
        </p:nvSpPr>
        <p:spPr>
          <a:xfrm>
            <a:off x="2712430" y="3439159"/>
            <a:ext cx="343535"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60000</a:t>
            </a:r>
            <a:endParaRPr sz="900">
              <a:latin typeface="Tahoma"/>
              <a:ea typeface="Tahoma"/>
              <a:cs typeface="Tahoma"/>
              <a:sym typeface="Tahoma"/>
            </a:endParaRPr>
          </a:p>
        </p:txBody>
      </p:sp>
      <p:sp>
        <p:nvSpPr>
          <p:cNvPr id="137" name="Google Shape;137;p6"/>
          <p:cNvSpPr txBox="1"/>
          <p:nvPr/>
        </p:nvSpPr>
        <p:spPr>
          <a:xfrm>
            <a:off x="2712430" y="2969767"/>
            <a:ext cx="343535"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80000</a:t>
            </a:r>
            <a:endParaRPr sz="900">
              <a:latin typeface="Tahoma"/>
              <a:ea typeface="Tahoma"/>
              <a:cs typeface="Tahoma"/>
              <a:sym typeface="Tahoma"/>
            </a:endParaRPr>
          </a:p>
        </p:txBody>
      </p:sp>
      <p:sp>
        <p:nvSpPr>
          <p:cNvPr id="138" name="Google Shape;138;p6"/>
          <p:cNvSpPr txBox="1"/>
          <p:nvPr/>
        </p:nvSpPr>
        <p:spPr>
          <a:xfrm>
            <a:off x="2650454" y="2500376"/>
            <a:ext cx="392430"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100000</a:t>
            </a:r>
            <a:endParaRPr sz="900">
              <a:latin typeface="Tahoma"/>
              <a:ea typeface="Tahoma"/>
              <a:cs typeface="Tahoma"/>
              <a:sym typeface="Tahoma"/>
            </a:endParaRPr>
          </a:p>
        </p:txBody>
      </p:sp>
      <p:sp>
        <p:nvSpPr>
          <p:cNvPr id="139" name="Google Shape;139;p6"/>
          <p:cNvSpPr txBox="1"/>
          <p:nvPr/>
        </p:nvSpPr>
        <p:spPr>
          <a:xfrm>
            <a:off x="2650454" y="1095247"/>
            <a:ext cx="392430" cy="110172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160000</a:t>
            </a:r>
            <a:endParaRPr sz="900">
              <a:latin typeface="Tahoma"/>
              <a:ea typeface="Tahoma"/>
              <a:cs typeface="Tahoma"/>
              <a:sym typeface="Tahoma"/>
            </a:endParaRPr>
          </a:p>
          <a:p>
            <a:pPr indent="0" lvl="0" marL="0" rtl="0" algn="l">
              <a:lnSpc>
                <a:spcPct val="100000"/>
              </a:lnSpc>
              <a:spcBef>
                <a:spcPts val="0"/>
              </a:spcBef>
              <a:spcAft>
                <a:spcPts val="0"/>
              </a:spcAft>
              <a:buNone/>
            </a:pPr>
            <a:r>
              <a:t/>
            </a:r>
            <a:endParaRPr sz="900">
              <a:latin typeface="Tahoma"/>
              <a:ea typeface="Tahoma"/>
              <a:cs typeface="Tahoma"/>
              <a:sym typeface="Tahoma"/>
            </a:endParaRPr>
          </a:p>
          <a:p>
            <a:pPr indent="0" lvl="0" marL="0" rtl="0" algn="l">
              <a:lnSpc>
                <a:spcPct val="100000"/>
              </a:lnSpc>
              <a:spcBef>
                <a:spcPts val="440"/>
              </a:spcBef>
              <a:spcAft>
                <a:spcPts val="0"/>
              </a:spcAft>
              <a:buNone/>
            </a:pPr>
            <a:r>
              <a:t/>
            </a:r>
            <a:endParaRPr sz="900">
              <a:latin typeface="Tahoma"/>
              <a:ea typeface="Tahoma"/>
              <a:cs typeface="Tahoma"/>
              <a:sym typeface="Tahoma"/>
            </a:endParaRPr>
          </a:p>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140000</a:t>
            </a:r>
            <a:endParaRPr sz="900">
              <a:latin typeface="Tahoma"/>
              <a:ea typeface="Tahoma"/>
              <a:cs typeface="Tahoma"/>
              <a:sym typeface="Tahoma"/>
            </a:endParaRPr>
          </a:p>
          <a:p>
            <a:pPr indent="0" lvl="0" marL="0" rtl="0" algn="l">
              <a:lnSpc>
                <a:spcPct val="100000"/>
              </a:lnSpc>
              <a:spcBef>
                <a:spcPts val="0"/>
              </a:spcBef>
              <a:spcAft>
                <a:spcPts val="0"/>
              </a:spcAft>
              <a:buNone/>
            </a:pPr>
            <a:r>
              <a:t/>
            </a:r>
            <a:endParaRPr sz="900">
              <a:latin typeface="Tahoma"/>
              <a:ea typeface="Tahoma"/>
              <a:cs typeface="Tahoma"/>
              <a:sym typeface="Tahoma"/>
            </a:endParaRPr>
          </a:p>
          <a:p>
            <a:pPr indent="0" lvl="0" marL="0" rtl="0" algn="l">
              <a:lnSpc>
                <a:spcPct val="100000"/>
              </a:lnSpc>
              <a:spcBef>
                <a:spcPts val="445"/>
              </a:spcBef>
              <a:spcAft>
                <a:spcPts val="0"/>
              </a:spcAft>
              <a:buNone/>
            </a:pPr>
            <a:r>
              <a:t/>
            </a:r>
            <a:endParaRPr sz="900">
              <a:latin typeface="Tahoma"/>
              <a:ea typeface="Tahoma"/>
              <a:cs typeface="Tahoma"/>
              <a:sym typeface="Tahoma"/>
            </a:endParaRPr>
          </a:p>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120000</a:t>
            </a:r>
            <a:endParaRPr sz="900">
              <a:latin typeface="Tahoma"/>
              <a:ea typeface="Tahoma"/>
              <a:cs typeface="Tahoma"/>
              <a:sym typeface="Tahoma"/>
            </a:endParaRPr>
          </a:p>
        </p:txBody>
      </p:sp>
      <p:sp>
        <p:nvSpPr>
          <p:cNvPr id="140" name="Google Shape;140;p6"/>
          <p:cNvSpPr txBox="1"/>
          <p:nvPr/>
        </p:nvSpPr>
        <p:spPr>
          <a:xfrm>
            <a:off x="2650454" y="625855"/>
            <a:ext cx="392430"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180000</a:t>
            </a:r>
            <a:endParaRPr sz="900">
              <a:latin typeface="Tahoma"/>
              <a:ea typeface="Tahoma"/>
              <a:cs typeface="Tahoma"/>
              <a:sym typeface="Tahoma"/>
            </a:endParaRPr>
          </a:p>
        </p:txBody>
      </p:sp>
      <p:sp>
        <p:nvSpPr>
          <p:cNvPr id="141" name="Google Shape;141;p6"/>
          <p:cNvSpPr txBox="1"/>
          <p:nvPr/>
        </p:nvSpPr>
        <p:spPr>
          <a:xfrm rot="-5400000">
            <a:off x="1655044" y="2670719"/>
            <a:ext cx="1657985" cy="304800"/>
          </a:xfrm>
          <a:prstGeom prst="rect">
            <a:avLst/>
          </a:prstGeom>
          <a:noFill/>
          <a:ln>
            <a:noFill/>
          </a:ln>
        </p:spPr>
        <p:txBody>
          <a:bodyPr anchorCtr="0" anchor="t" bIns="0" lIns="0" spcFirstLastPara="1" rIns="0" wrap="square" tIns="1250">
            <a:spAutoFit/>
          </a:bodyPr>
          <a:lstStyle/>
          <a:p>
            <a:pPr indent="0" lvl="0" marL="12700" rtl="0" algn="l">
              <a:lnSpc>
                <a:spcPct val="100000"/>
              </a:lnSpc>
              <a:spcBef>
                <a:spcPts val="0"/>
              </a:spcBef>
              <a:spcAft>
                <a:spcPts val="0"/>
              </a:spcAft>
              <a:buNone/>
            </a:pPr>
            <a:r>
              <a:rPr lang="en-US" sz="1800">
                <a:solidFill>
                  <a:srgbClr val="595959"/>
                </a:solidFill>
                <a:latin typeface="Calibri"/>
                <a:ea typeface="Calibri"/>
                <a:cs typeface="Calibri"/>
                <a:sym typeface="Calibri"/>
              </a:rPr>
              <a:t>Total Ticket Count</a:t>
            </a:r>
            <a:endParaRPr sz="1800">
              <a:latin typeface="Calibri"/>
              <a:ea typeface="Calibri"/>
              <a:cs typeface="Calibri"/>
              <a:sym typeface="Calibri"/>
            </a:endParaRPr>
          </a:p>
        </p:txBody>
      </p:sp>
      <p:sp>
        <p:nvSpPr>
          <p:cNvPr id="142" name="Google Shape;142;p6"/>
          <p:cNvSpPr txBox="1"/>
          <p:nvPr/>
        </p:nvSpPr>
        <p:spPr>
          <a:xfrm>
            <a:off x="2712430" y="4377944"/>
            <a:ext cx="8484235" cy="10464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595959"/>
                </a:solidFill>
                <a:latin typeface="Tahoma"/>
                <a:ea typeface="Tahoma"/>
                <a:cs typeface="Tahoma"/>
                <a:sym typeface="Tahoma"/>
              </a:rPr>
              <a:t>20000</a:t>
            </a:r>
            <a:endParaRPr sz="900">
              <a:latin typeface="Tahoma"/>
              <a:ea typeface="Tahoma"/>
              <a:cs typeface="Tahoma"/>
              <a:sym typeface="Tahoma"/>
            </a:endParaRPr>
          </a:p>
          <a:p>
            <a:pPr indent="0" lvl="0" marL="0" rtl="0" algn="l">
              <a:lnSpc>
                <a:spcPct val="100000"/>
              </a:lnSpc>
              <a:spcBef>
                <a:spcPts val="0"/>
              </a:spcBef>
              <a:spcAft>
                <a:spcPts val="0"/>
              </a:spcAft>
              <a:buNone/>
            </a:pPr>
            <a:r>
              <a:t/>
            </a:r>
            <a:endParaRPr sz="900">
              <a:latin typeface="Tahoma"/>
              <a:ea typeface="Tahoma"/>
              <a:cs typeface="Tahoma"/>
              <a:sym typeface="Tahoma"/>
            </a:endParaRPr>
          </a:p>
          <a:p>
            <a:pPr indent="0" lvl="0" marL="0" rtl="0" algn="l">
              <a:lnSpc>
                <a:spcPct val="100000"/>
              </a:lnSpc>
              <a:spcBef>
                <a:spcPts val="440"/>
              </a:spcBef>
              <a:spcAft>
                <a:spcPts val="0"/>
              </a:spcAft>
              <a:buNone/>
            </a:pPr>
            <a:r>
              <a:t/>
            </a:r>
            <a:endParaRPr sz="900">
              <a:latin typeface="Tahoma"/>
              <a:ea typeface="Tahoma"/>
              <a:cs typeface="Tahoma"/>
              <a:sym typeface="Tahoma"/>
            </a:endParaRPr>
          </a:p>
          <a:p>
            <a:pPr indent="0" lvl="0" marL="260350" rtl="0" algn="l">
              <a:lnSpc>
                <a:spcPct val="100000"/>
              </a:lnSpc>
              <a:spcBef>
                <a:spcPts val="0"/>
              </a:spcBef>
              <a:spcAft>
                <a:spcPts val="0"/>
              </a:spcAft>
              <a:buNone/>
            </a:pPr>
            <a:r>
              <a:rPr lang="en-US" sz="900">
                <a:solidFill>
                  <a:srgbClr val="595959"/>
                </a:solidFill>
                <a:latin typeface="Tahoma"/>
                <a:ea typeface="Tahoma"/>
                <a:cs typeface="Tahoma"/>
                <a:sym typeface="Tahoma"/>
              </a:rPr>
              <a:t>0</a:t>
            </a:r>
            <a:endParaRPr sz="900">
              <a:latin typeface="Tahoma"/>
              <a:ea typeface="Tahoma"/>
              <a:cs typeface="Tahoma"/>
              <a:sym typeface="Tahoma"/>
            </a:endParaRPr>
          </a:p>
          <a:p>
            <a:pPr indent="0" lvl="0" marL="394335" rtl="0" algn="l">
              <a:lnSpc>
                <a:spcPct val="100000"/>
              </a:lnSpc>
              <a:spcBef>
                <a:spcPts val="75"/>
              </a:spcBef>
              <a:spcAft>
                <a:spcPts val="0"/>
              </a:spcAft>
              <a:buNone/>
            </a:pPr>
            <a:r>
              <a:rPr lang="en-US" sz="900">
                <a:solidFill>
                  <a:srgbClr val="595959"/>
                </a:solidFill>
                <a:latin typeface="Tahoma"/>
                <a:ea typeface="Tahoma"/>
                <a:cs typeface="Tahoma"/>
                <a:sym typeface="Tahoma"/>
              </a:rPr>
              <a:t>0	10	20	30	40	50	60	70	80	90	100	110	120	130	140	150	160	170	180	190	200	210	220	230	240</a:t>
            </a:r>
            <a:endParaRPr sz="900">
              <a:latin typeface="Tahoma"/>
              <a:ea typeface="Tahoma"/>
              <a:cs typeface="Tahoma"/>
              <a:sym typeface="Tahoma"/>
            </a:endParaRPr>
          </a:p>
          <a:p>
            <a:pPr indent="0" lvl="0" marL="314960" rtl="0" algn="ctr">
              <a:lnSpc>
                <a:spcPct val="100000"/>
              </a:lnSpc>
              <a:spcBef>
                <a:spcPts val="185"/>
              </a:spcBef>
              <a:spcAft>
                <a:spcPts val="0"/>
              </a:spcAft>
              <a:buNone/>
            </a:pPr>
            <a:r>
              <a:rPr lang="en-US" sz="1600">
                <a:solidFill>
                  <a:srgbClr val="595959"/>
                </a:solidFill>
                <a:latin typeface="Calibri"/>
                <a:ea typeface="Calibri"/>
                <a:cs typeface="Calibri"/>
                <a:sym typeface="Calibri"/>
              </a:rPr>
              <a:t>Avg Days to Close</a:t>
            </a:r>
            <a:endParaRPr sz="1600">
              <a:latin typeface="Calibri"/>
              <a:ea typeface="Calibri"/>
              <a:cs typeface="Calibri"/>
              <a:sym typeface="Calibri"/>
            </a:endParaRPr>
          </a:p>
        </p:txBody>
      </p:sp>
      <p:grpSp>
        <p:nvGrpSpPr>
          <p:cNvPr id="143" name="Google Shape;143;p6"/>
          <p:cNvGrpSpPr/>
          <p:nvPr/>
        </p:nvGrpSpPr>
        <p:grpSpPr>
          <a:xfrm>
            <a:off x="3875646" y="718342"/>
            <a:ext cx="7184390" cy="3664585"/>
            <a:chOff x="3875646" y="718342"/>
            <a:chExt cx="7184390" cy="3664585"/>
          </a:xfrm>
        </p:grpSpPr>
        <p:sp>
          <p:nvSpPr>
            <p:cNvPr id="144" name="Google Shape;144;p6"/>
            <p:cNvSpPr/>
            <p:nvPr/>
          </p:nvSpPr>
          <p:spPr>
            <a:xfrm>
              <a:off x="3875646" y="718342"/>
              <a:ext cx="7184390" cy="3664585"/>
            </a:xfrm>
            <a:custGeom>
              <a:rect b="b" l="l" r="r" t="t"/>
              <a:pathLst>
                <a:path extrusionOk="0" h="3664585" w="7184390">
                  <a:moveTo>
                    <a:pt x="7184266" y="0"/>
                  </a:moveTo>
                  <a:lnTo>
                    <a:pt x="0" y="0"/>
                  </a:lnTo>
                  <a:lnTo>
                    <a:pt x="0" y="3664416"/>
                  </a:lnTo>
                  <a:lnTo>
                    <a:pt x="7184266" y="3664416"/>
                  </a:lnTo>
                  <a:lnTo>
                    <a:pt x="7184266" y="0"/>
                  </a:lnTo>
                  <a:close/>
                </a:path>
              </a:pathLst>
            </a:custGeom>
            <a:solidFill>
              <a:srgbClr val="F3960F">
                <a:alpha val="4196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5" name="Google Shape;145;p6"/>
            <p:cNvSpPr/>
            <p:nvPr/>
          </p:nvSpPr>
          <p:spPr>
            <a:xfrm>
              <a:off x="3875646" y="718342"/>
              <a:ext cx="7184390" cy="3664585"/>
            </a:xfrm>
            <a:custGeom>
              <a:rect b="b" l="l" r="r" t="t"/>
              <a:pathLst>
                <a:path extrusionOk="0" h="3664585" w="7184390">
                  <a:moveTo>
                    <a:pt x="0" y="0"/>
                  </a:moveTo>
                  <a:lnTo>
                    <a:pt x="7184267" y="0"/>
                  </a:lnTo>
                  <a:lnTo>
                    <a:pt x="7184267" y="3664416"/>
                  </a:lnTo>
                  <a:lnTo>
                    <a:pt x="0" y="3664416"/>
                  </a:lnTo>
                  <a:lnTo>
                    <a:pt x="0" y="0"/>
                  </a:lnTo>
                  <a:close/>
                </a:path>
              </a:pathLst>
            </a:custGeom>
            <a:noFill/>
            <a:ln cap="flat" cmpd="sng" w="15875">
              <a:solidFill>
                <a:srgbClr val="62390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46" name="Google Shape;146;p6"/>
          <p:cNvSpPr txBox="1"/>
          <p:nvPr/>
        </p:nvSpPr>
        <p:spPr>
          <a:xfrm>
            <a:off x="7156494" y="3132047"/>
            <a:ext cx="1535430" cy="479425"/>
          </a:xfrm>
          <a:prstGeom prst="rect">
            <a:avLst/>
          </a:prstGeom>
          <a:noFill/>
          <a:ln>
            <a:noFill/>
          </a:ln>
        </p:spPr>
        <p:txBody>
          <a:bodyPr anchorCtr="0" anchor="t" bIns="0" lIns="0" spcFirstLastPara="1" rIns="0" wrap="square" tIns="14600">
            <a:spAutoFit/>
          </a:bodyPr>
          <a:lstStyle/>
          <a:p>
            <a:pPr indent="0" lvl="0" marL="0" rtl="0" algn="l">
              <a:lnSpc>
                <a:spcPct val="100000"/>
              </a:lnSpc>
              <a:spcBef>
                <a:spcPts val="0"/>
              </a:spcBef>
              <a:spcAft>
                <a:spcPts val="0"/>
              </a:spcAft>
              <a:buNone/>
            </a:pPr>
            <a:r>
              <a:rPr lang="en-US" sz="1550">
                <a:latin typeface="Calibri"/>
                <a:ea typeface="Calibri"/>
                <a:cs typeface="Calibri"/>
                <a:sym typeface="Calibri"/>
              </a:rPr>
              <a:t>Tree Trim Request</a:t>
            </a:r>
            <a:endParaRPr sz="1550">
              <a:latin typeface="Calibri"/>
              <a:ea typeface="Calibri"/>
              <a:cs typeface="Calibri"/>
              <a:sym typeface="Calibri"/>
            </a:endParaRPr>
          </a:p>
          <a:p>
            <a:pPr indent="0" lvl="0" marL="0" rtl="0" algn="l">
              <a:lnSpc>
                <a:spcPct val="100000"/>
              </a:lnSpc>
              <a:spcBef>
                <a:spcPts val="20"/>
              </a:spcBef>
              <a:spcAft>
                <a:spcPts val="0"/>
              </a:spcAft>
              <a:buNone/>
            </a:pPr>
            <a:r>
              <a:rPr lang="en-US" sz="1400">
                <a:latin typeface="Calibri"/>
                <a:ea typeface="Calibri"/>
                <a:cs typeface="Calibri"/>
                <a:sym typeface="Calibri"/>
              </a:rPr>
              <a:t>(118, 66k)</a:t>
            </a:r>
            <a:endParaRPr sz="1400">
              <a:latin typeface="Calibri"/>
              <a:ea typeface="Calibri"/>
              <a:cs typeface="Calibri"/>
              <a:sym typeface="Calibri"/>
            </a:endParaRPr>
          </a:p>
        </p:txBody>
      </p:sp>
      <p:sp>
        <p:nvSpPr>
          <p:cNvPr id="147" name="Google Shape;147;p6"/>
          <p:cNvSpPr txBox="1"/>
          <p:nvPr/>
        </p:nvSpPr>
        <p:spPr>
          <a:xfrm>
            <a:off x="7226326" y="3842232"/>
            <a:ext cx="1885950" cy="479425"/>
          </a:xfrm>
          <a:prstGeom prst="rect">
            <a:avLst/>
          </a:prstGeom>
          <a:noFill/>
          <a:ln>
            <a:noFill/>
          </a:ln>
        </p:spPr>
        <p:txBody>
          <a:bodyPr anchorCtr="0" anchor="t" bIns="0" lIns="0" spcFirstLastPara="1" rIns="0" wrap="square" tIns="14600">
            <a:spAutoFit/>
          </a:bodyPr>
          <a:lstStyle/>
          <a:p>
            <a:pPr indent="0" lvl="0" marL="0" rtl="0" algn="l">
              <a:lnSpc>
                <a:spcPct val="100000"/>
              </a:lnSpc>
              <a:spcBef>
                <a:spcPts val="0"/>
              </a:spcBef>
              <a:spcAft>
                <a:spcPts val="0"/>
              </a:spcAft>
              <a:buNone/>
            </a:pPr>
            <a:r>
              <a:rPr lang="en-US" sz="1550">
                <a:latin typeface="Calibri"/>
                <a:ea typeface="Calibri"/>
                <a:cs typeface="Calibri"/>
                <a:sym typeface="Calibri"/>
              </a:rPr>
              <a:t>Tree Removal Request</a:t>
            </a:r>
            <a:endParaRPr sz="1550">
              <a:latin typeface="Calibri"/>
              <a:ea typeface="Calibri"/>
              <a:cs typeface="Calibri"/>
              <a:sym typeface="Calibri"/>
            </a:endParaRPr>
          </a:p>
          <a:p>
            <a:pPr indent="0" lvl="0" marL="0" rtl="0" algn="l">
              <a:lnSpc>
                <a:spcPct val="100000"/>
              </a:lnSpc>
              <a:spcBef>
                <a:spcPts val="20"/>
              </a:spcBef>
              <a:spcAft>
                <a:spcPts val="0"/>
              </a:spcAft>
              <a:buNone/>
            </a:pPr>
            <a:r>
              <a:rPr lang="en-US" sz="1400">
                <a:latin typeface="Calibri"/>
                <a:ea typeface="Calibri"/>
                <a:cs typeface="Calibri"/>
                <a:sym typeface="Calibri"/>
              </a:rPr>
              <a:t>(120, 32k)</a:t>
            </a:r>
            <a:endParaRPr sz="1400">
              <a:latin typeface="Calibri"/>
              <a:ea typeface="Calibri"/>
              <a:cs typeface="Calibri"/>
              <a:sym typeface="Calibri"/>
            </a:endParaRPr>
          </a:p>
        </p:txBody>
      </p:sp>
      <p:sp>
        <p:nvSpPr>
          <p:cNvPr id="148" name="Google Shape;148;p6"/>
          <p:cNvSpPr txBox="1"/>
          <p:nvPr/>
        </p:nvSpPr>
        <p:spPr>
          <a:xfrm>
            <a:off x="4126660" y="2674847"/>
            <a:ext cx="1132840" cy="735965"/>
          </a:xfrm>
          <a:prstGeom prst="rect">
            <a:avLst/>
          </a:prstGeom>
          <a:noFill/>
          <a:ln>
            <a:noFill/>
          </a:ln>
        </p:spPr>
        <p:txBody>
          <a:bodyPr anchorCtr="0" anchor="t" bIns="0" lIns="0" spcFirstLastPara="1" rIns="0" wrap="square" tIns="3800">
            <a:spAutoFit/>
          </a:bodyPr>
          <a:lstStyle/>
          <a:p>
            <a:pPr indent="0" lvl="0" marL="0" marR="5080" rtl="0" algn="just">
              <a:lnSpc>
                <a:spcPct val="104600"/>
              </a:lnSpc>
              <a:spcBef>
                <a:spcPts val="0"/>
              </a:spcBef>
              <a:spcAft>
                <a:spcPts val="0"/>
              </a:spcAft>
              <a:buNone/>
            </a:pPr>
            <a:r>
              <a:rPr lang="en-US" sz="1550">
                <a:latin typeface="Calibri"/>
                <a:ea typeface="Calibri"/>
                <a:cs typeface="Calibri"/>
                <a:sym typeface="Calibri"/>
              </a:rPr>
              <a:t>Garbage Cart Maintenance </a:t>
            </a:r>
            <a:r>
              <a:rPr lang="en-US" sz="1400">
                <a:latin typeface="Calibri"/>
                <a:ea typeface="Calibri"/>
                <a:cs typeface="Calibri"/>
                <a:sym typeface="Calibri"/>
              </a:rPr>
              <a:t>(26, 86k)</a:t>
            </a:r>
            <a:endParaRPr sz="1400">
              <a:latin typeface="Calibri"/>
              <a:ea typeface="Calibri"/>
              <a:cs typeface="Calibri"/>
              <a:sym typeface="Calibri"/>
            </a:endParaRPr>
          </a:p>
        </p:txBody>
      </p:sp>
      <p:sp>
        <p:nvSpPr>
          <p:cNvPr descr="$PPTXTitle" id="149" name="Google Shape;149;p6"/>
          <p:cNvSpPr txBox="1"/>
          <p:nvPr>
            <p:ph type="title"/>
          </p:nvPr>
        </p:nvSpPr>
        <p:spPr>
          <a:xfrm>
            <a:off x="9163667" y="801843"/>
            <a:ext cx="1782445" cy="3244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u="sng"/>
              <a:t>3 HIGH PRIORITY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p:nvPr/>
        </p:nvSpPr>
        <p:spPr>
          <a:xfrm>
            <a:off x="0" y="0"/>
            <a:ext cx="12192000" cy="5788660"/>
          </a:xfrm>
          <a:custGeom>
            <a:rect b="b" l="l" r="r" t="t"/>
            <a:pathLst>
              <a:path extrusionOk="0" h="5788660" w="12192000">
                <a:moveTo>
                  <a:pt x="12192000" y="0"/>
                </a:moveTo>
                <a:lnTo>
                  <a:pt x="0" y="0"/>
                </a:lnTo>
                <a:lnTo>
                  <a:pt x="0" y="5788372"/>
                </a:lnTo>
                <a:lnTo>
                  <a:pt x="12192000" y="5788372"/>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5" name="Google Shape;155;p7"/>
          <p:cNvSpPr txBox="1"/>
          <p:nvPr/>
        </p:nvSpPr>
        <p:spPr>
          <a:xfrm>
            <a:off x="652049" y="2569971"/>
            <a:ext cx="1055370" cy="821055"/>
          </a:xfrm>
          <a:prstGeom prst="rect">
            <a:avLst/>
          </a:prstGeom>
          <a:noFill/>
          <a:ln>
            <a:noFill/>
          </a:ln>
        </p:spPr>
        <p:txBody>
          <a:bodyPr anchorCtr="0" anchor="t" bIns="0" lIns="0" spcFirstLastPara="1" rIns="0" wrap="square" tIns="73650">
            <a:spAutoFit/>
          </a:bodyPr>
          <a:lstStyle/>
          <a:p>
            <a:pPr indent="0" lvl="0" marL="12700" marR="10795" rtl="0" algn="l">
              <a:lnSpc>
                <a:spcPct val="103571"/>
              </a:lnSpc>
              <a:spcBef>
                <a:spcPts val="0"/>
              </a:spcBef>
              <a:spcAft>
                <a:spcPts val="0"/>
              </a:spcAft>
              <a:buNone/>
            </a:pPr>
            <a:r>
              <a:rPr lang="en-US" sz="2800">
                <a:latin typeface="Calibri"/>
                <a:ea typeface="Calibri"/>
                <a:cs typeface="Calibri"/>
                <a:sym typeface="Calibri"/>
              </a:rPr>
              <a:t>Validate Findings</a:t>
            </a:r>
            <a:endParaRPr sz="2800">
              <a:latin typeface="Calibri"/>
              <a:ea typeface="Calibri"/>
              <a:cs typeface="Calibri"/>
              <a:sym typeface="Calibri"/>
            </a:endParaRPr>
          </a:p>
        </p:txBody>
      </p:sp>
      <p:sp>
        <p:nvSpPr>
          <p:cNvPr id="156" name="Google Shape;156;p7"/>
          <p:cNvSpPr txBox="1"/>
          <p:nvPr>
            <p:ph idx="1" type="body"/>
          </p:nvPr>
        </p:nvSpPr>
        <p:spPr>
          <a:xfrm>
            <a:off x="2729864" y="2080259"/>
            <a:ext cx="7783195" cy="2284095"/>
          </a:xfrm>
          <a:prstGeom prst="rect">
            <a:avLst/>
          </a:prstGeom>
          <a:noFill/>
          <a:ln>
            <a:noFill/>
          </a:ln>
        </p:spPr>
        <p:txBody>
          <a:bodyPr anchorCtr="0" anchor="t" bIns="0" lIns="0" spcFirstLastPara="1" rIns="0" wrap="square" tIns="189225">
            <a:spAutoFit/>
          </a:bodyPr>
          <a:lstStyle/>
          <a:p>
            <a:pPr indent="0" lvl="0" marL="12700" rtl="0" algn="l">
              <a:lnSpc>
                <a:spcPct val="100000"/>
              </a:lnSpc>
              <a:spcBef>
                <a:spcPts val="0"/>
              </a:spcBef>
              <a:spcAft>
                <a:spcPts val="0"/>
              </a:spcAft>
              <a:buNone/>
            </a:pPr>
            <a:r>
              <a:rPr lang="en-US"/>
              <a:t>A cross checking with New York City 311 data for similar services shows that</a:t>
            </a:r>
            <a:r>
              <a:rPr baseline="30000" lang="en-US" sz="2925"/>
              <a:t>:</a:t>
            </a:r>
            <a:endParaRPr baseline="30000" sz="2925"/>
          </a:p>
          <a:p>
            <a:pPr indent="-228600" lvl="0" marL="241300" rtl="0" algn="l">
              <a:lnSpc>
                <a:spcPct val="100000"/>
              </a:lnSpc>
              <a:spcBef>
                <a:spcPts val="1445"/>
              </a:spcBef>
              <a:spcAft>
                <a:spcPts val="0"/>
              </a:spcAft>
              <a:buClr>
                <a:srgbClr val="F3960F"/>
              </a:buClr>
              <a:buSzPts val="2000"/>
              <a:buFont typeface="Noto Sans Symbols"/>
              <a:buChar char="▪"/>
            </a:pPr>
            <a:r>
              <a:rPr lang="en-US" sz="1800"/>
              <a:t>NYC’s </a:t>
            </a:r>
            <a:r>
              <a:rPr lang="en-US" sz="1800" u="sng"/>
              <a:t>garbage-cart-related tickets</a:t>
            </a:r>
            <a:r>
              <a:rPr lang="en-US" sz="1800"/>
              <a:t> have an average close time of </a:t>
            </a:r>
            <a:r>
              <a:rPr baseline="30000" lang="en-US" sz="2925">
                <a:solidFill>
                  <a:srgbClr val="FF0000"/>
                </a:solidFill>
              </a:rPr>
              <a:t>1-3 days </a:t>
            </a:r>
            <a:r>
              <a:rPr baseline="30000" lang="en-US" sz="2925"/>
              <a:t>.</a:t>
            </a:r>
            <a:endParaRPr baseline="30000" sz="2925"/>
          </a:p>
          <a:p>
            <a:pPr indent="-228600" lvl="1" marL="698500" rtl="0" algn="l">
              <a:lnSpc>
                <a:spcPct val="100000"/>
              </a:lnSpc>
              <a:spcBef>
                <a:spcPts val="1025"/>
              </a:spcBef>
              <a:spcAft>
                <a:spcPts val="0"/>
              </a:spcAft>
              <a:buClr>
                <a:srgbClr val="F3960F"/>
              </a:buClr>
              <a:buSzPts val="2000"/>
              <a:buFont typeface="Noto Sans Symbols"/>
              <a:buChar char="▪"/>
            </a:pPr>
            <a:r>
              <a:rPr lang="en-US" sz="1800">
                <a:latin typeface="Calibri"/>
                <a:ea typeface="Calibri"/>
                <a:cs typeface="Calibri"/>
                <a:sym typeface="Calibri"/>
              </a:rPr>
              <a:t>Compared to </a:t>
            </a:r>
            <a:r>
              <a:rPr lang="en-US" sz="1750">
                <a:solidFill>
                  <a:srgbClr val="FF0000"/>
                </a:solidFill>
                <a:latin typeface="Calibri"/>
                <a:ea typeface="Calibri"/>
                <a:cs typeface="Calibri"/>
                <a:sym typeface="Calibri"/>
              </a:rPr>
              <a:t>26 days </a:t>
            </a:r>
            <a:r>
              <a:rPr lang="en-US" sz="1800">
                <a:latin typeface="Calibri"/>
                <a:ea typeface="Calibri"/>
                <a:cs typeface="Calibri"/>
                <a:sym typeface="Calibri"/>
              </a:rPr>
              <a:t>for Chicago.</a:t>
            </a:r>
            <a:endParaRPr sz="1800">
              <a:latin typeface="Calibri"/>
              <a:ea typeface="Calibri"/>
              <a:cs typeface="Calibri"/>
              <a:sym typeface="Calibri"/>
            </a:endParaRPr>
          </a:p>
          <a:p>
            <a:pPr indent="-228600" lvl="0" marL="241300" rtl="0" algn="l">
              <a:lnSpc>
                <a:spcPct val="100000"/>
              </a:lnSpc>
              <a:spcBef>
                <a:spcPts val="1480"/>
              </a:spcBef>
              <a:spcAft>
                <a:spcPts val="0"/>
              </a:spcAft>
              <a:buClr>
                <a:srgbClr val="F3960F"/>
              </a:buClr>
              <a:buSzPts val="2000"/>
              <a:buFont typeface="Noto Sans Symbols"/>
              <a:buChar char="▪"/>
            </a:pPr>
            <a:r>
              <a:rPr lang="en-US" sz="1800"/>
              <a:t>NYC’s </a:t>
            </a:r>
            <a:r>
              <a:rPr lang="en-US" sz="1800" u="sng"/>
              <a:t>tree-related tickets</a:t>
            </a:r>
            <a:r>
              <a:rPr lang="en-US" sz="1800"/>
              <a:t> have an average close time of </a:t>
            </a:r>
            <a:r>
              <a:rPr baseline="30000" lang="en-US" sz="2925">
                <a:solidFill>
                  <a:srgbClr val="FF0000"/>
                </a:solidFill>
              </a:rPr>
              <a:t>20-60 days</a:t>
            </a:r>
            <a:r>
              <a:rPr baseline="30000" lang="en-US" sz="2925"/>
              <a:t>.</a:t>
            </a:r>
            <a:endParaRPr baseline="30000" sz="2925"/>
          </a:p>
          <a:p>
            <a:pPr indent="-228600" lvl="1" marL="698500" rtl="0" algn="l">
              <a:lnSpc>
                <a:spcPct val="100000"/>
              </a:lnSpc>
              <a:spcBef>
                <a:spcPts val="1005"/>
              </a:spcBef>
              <a:spcAft>
                <a:spcPts val="0"/>
              </a:spcAft>
              <a:buClr>
                <a:srgbClr val="F3960F"/>
              </a:buClr>
              <a:buSzPts val="2000"/>
              <a:buFont typeface="Noto Sans Symbols"/>
              <a:buChar char="▪"/>
            </a:pPr>
            <a:r>
              <a:rPr lang="en-US" sz="1800">
                <a:latin typeface="Calibri"/>
                <a:ea typeface="Calibri"/>
                <a:cs typeface="Calibri"/>
                <a:sym typeface="Calibri"/>
              </a:rPr>
              <a:t>Compared to </a:t>
            </a:r>
            <a:r>
              <a:rPr lang="en-US" sz="1750">
                <a:solidFill>
                  <a:srgbClr val="FF0000"/>
                </a:solidFill>
                <a:latin typeface="Calibri"/>
                <a:ea typeface="Calibri"/>
                <a:cs typeface="Calibri"/>
                <a:sym typeface="Calibri"/>
              </a:rPr>
              <a:t>120 days </a:t>
            </a:r>
            <a:r>
              <a:rPr lang="en-US" sz="1800">
                <a:latin typeface="Calibri"/>
                <a:ea typeface="Calibri"/>
                <a:cs typeface="Calibri"/>
                <a:sym typeface="Calibri"/>
              </a:rPr>
              <a:t>for Chicago.</a:t>
            </a:r>
            <a:endParaRPr sz="1800">
              <a:latin typeface="Calibri"/>
              <a:ea typeface="Calibri"/>
              <a:cs typeface="Calibri"/>
              <a:sym typeface="Calibri"/>
            </a:endParaRPr>
          </a:p>
        </p:txBody>
      </p:sp>
      <p:sp>
        <p:nvSpPr>
          <p:cNvPr descr="$PPTXTitle" id="157" name="Google Shape;157;p7"/>
          <p:cNvSpPr txBox="1"/>
          <p:nvPr>
            <p:ph type="title"/>
          </p:nvPr>
        </p:nvSpPr>
        <p:spPr>
          <a:xfrm>
            <a:off x="3363619" y="1194267"/>
            <a:ext cx="6047740" cy="3543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2150"/>
              <a:t>How can we tell if these 3 services are problematic?</a:t>
            </a:r>
            <a:endParaRPr sz="21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p:nvPr/>
        </p:nvSpPr>
        <p:spPr>
          <a:xfrm>
            <a:off x="0" y="0"/>
            <a:ext cx="12192000" cy="5788660"/>
          </a:xfrm>
          <a:custGeom>
            <a:rect b="b" l="l" r="r" t="t"/>
            <a:pathLst>
              <a:path extrusionOk="0" h="5788660" w="12192000">
                <a:moveTo>
                  <a:pt x="12192000" y="0"/>
                </a:moveTo>
                <a:lnTo>
                  <a:pt x="0" y="0"/>
                </a:lnTo>
                <a:lnTo>
                  <a:pt x="0" y="5788372"/>
                </a:lnTo>
                <a:lnTo>
                  <a:pt x="12192000" y="5788372"/>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3" name="Google Shape;163;p8"/>
          <p:cNvSpPr txBox="1"/>
          <p:nvPr/>
        </p:nvSpPr>
        <p:spPr>
          <a:xfrm>
            <a:off x="652049" y="2569971"/>
            <a:ext cx="1496060" cy="821055"/>
          </a:xfrm>
          <a:prstGeom prst="rect">
            <a:avLst/>
          </a:prstGeom>
          <a:noFill/>
          <a:ln>
            <a:noFill/>
          </a:ln>
        </p:spPr>
        <p:txBody>
          <a:bodyPr anchorCtr="0" anchor="t" bIns="0" lIns="0" spcFirstLastPara="1" rIns="0" wrap="square" tIns="73650">
            <a:spAutoFit/>
          </a:bodyPr>
          <a:lstStyle/>
          <a:p>
            <a:pPr indent="0" lvl="0" marL="12700" marR="5080" rtl="0" algn="l">
              <a:lnSpc>
                <a:spcPct val="103571"/>
              </a:lnSpc>
              <a:spcBef>
                <a:spcPts val="0"/>
              </a:spcBef>
              <a:spcAft>
                <a:spcPts val="0"/>
              </a:spcAft>
              <a:buNone/>
            </a:pPr>
            <a:r>
              <a:rPr lang="en-US" sz="2800">
                <a:latin typeface="Calibri"/>
                <a:ea typeface="Calibri"/>
                <a:cs typeface="Calibri"/>
                <a:sym typeface="Calibri"/>
              </a:rPr>
              <a:t>Close Time Distribution</a:t>
            </a:r>
            <a:endParaRPr sz="2800">
              <a:latin typeface="Calibri"/>
              <a:ea typeface="Calibri"/>
              <a:cs typeface="Calibri"/>
              <a:sym typeface="Calibri"/>
            </a:endParaRPr>
          </a:p>
        </p:txBody>
      </p:sp>
      <p:sp>
        <p:nvSpPr>
          <p:cNvPr descr="$PPTXTitle" id="164" name="Google Shape;164;p8"/>
          <p:cNvSpPr txBox="1"/>
          <p:nvPr>
            <p:ph type="title"/>
          </p:nvPr>
        </p:nvSpPr>
        <p:spPr>
          <a:xfrm>
            <a:off x="2611541" y="511515"/>
            <a:ext cx="8990965" cy="354330"/>
          </a:xfrm>
          <a:prstGeom prst="rect">
            <a:avLst/>
          </a:prstGeom>
          <a:noFill/>
          <a:ln>
            <a:noFill/>
          </a:ln>
        </p:spPr>
        <p:txBody>
          <a:bodyPr anchorCtr="0" anchor="t" bIns="0" lIns="0" spcFirstLastPara="1" rIns="0" wrap="square" tIns="13950">
            <a:spAutoFit/>
          </a:bodyPr>
          <a:lstStyle/>
          <a:p>
            <a:pPr indent="0" lvl="0" marL="1677670" rtl="0" algn="l">
              <a:lnSpc>
                <a:spcPct val="100000"/>
              </a:lnSpc>
              <a:spcBef>
                <a:spcPts val="0"/>
              </a:spcBef>
              <a:spcAft>
                <a:spcPts val="0"/>
              </a:spcAft>
              <a:buNone/>
            </a:pPr>
            <a:r>
              <a:rPr lang="en-US"/>
              <a:t>Do all tickets have longer close time than NYC’s?</a:t>
            </a:r>
            <a:endParaRPr/>
          </a:p>
        </p:txBody>
      </p:sp>
      <p:grpSp>
        <p:nvGrpSpPr>
          <p:cNvPr id="165" name="Google Shape;165;p8"/>
          <p:cNvGrpSpPr/>
          <p:nvPr/>
        </p:nvGrpSpPr>
        <p:grpSpPr>
          <a:xfrm>
            <a:off x="2811438" y="1958301"/>
            <a:ext cx="8156575" cy="2904338"/>
            <a:chOff x="2811438" y="1958301"/>
            <a:chExt cx="8156575" cy="2904338"/>
          </a:xfrm>
        </p:grpSpPr>
        <p:sp>
          <p:nvSpPr>
            <p:cNvPr id="166" name="Google Shape;166;p8"/>
            <p:cNvSpPr/>
            <p:nvPr/>
          </p:nvSpPr>
          <p:spPr>
            <a:xfrm>
              <a:off x="3122549" y="1958301"/>
              <a:ext cx="6808470" cy="2903855"/>
            </a:xfrm>
            <a:custGeom>
              <a:rect b="b" l="l" r="r" t="t"/>
              <a:pathLst>
                <a:path extrusionOk="0" h="2903854" w="6808470">
                  <a:moveTo>
                    <a:pt x="286727" y="0"/>
                  </a:moveTo>
                  <a:lnTo>
                    <a:pt x="0" y="0"/>
                  </a:lnTo>
                  <a:lnTo>
                    <a:pt x="0" y="2903791"/>
                  </a:lnTo>
                  <a:lnTo>
                    <a:pt x="286727" y="2903791"/>
                  </a:lnTo>
                  <a:lnTo>
                    <a:pt x="286727" y="0"/>
                  </a:lnTo>
                  <a:close/>
                </a:path>
                <a:path extrusionOk="0" h="2903854" w="6808470">
                  <a:moveTo>
                    <a:pt x="1915541" y="1830120"/>
                  </a:moveTo>
                  <a:lnTo>
                    <a:pt x="1634921" y="1830120"/>
                  </a:lnTo>
                  <a:lnTo>
                    <a:pt x="1634921" y="2903791"/>
                  </a:lnTo>
                  <a:lnTo>
                    <a:pt x="1915541" y="2903791"/>
                  </a:lnTo>
                  <a:lnTo>
                    <a:pt x="1915541" y="1830120"/>
                  </a:lnTo>
                  <a:close/>
                </a:path>
                <a:path extrusionOk="0" h="2903854" w="6808470">
                  <a:moveTo>
                    <a:pt x="3550450" y="1238377"/>
                  </a:moveTo>
                  <a:lnTo>
                    <a:pt x="3263722" y="1238377"/>
                  </a:lnTo>
                  <a:lnTo>
                    <a:pt x="3263722" y="2903791"/>
                  </a:lnTo>
                  <a:lnTo>
                    <a:pt x="3550450" y="2903791"/>
                  </a:lnTo>
                  <a:lnTo>
                    <a:pt x="3550450" y="1238377"/>
                  </a:lnTo>
                  <a:close/>
                </a:path>
                <a:path extrusionOk="0" h="2903854" w="6808470">
                  <a:moveTo>
                    <a:pt x="5179263" y="2251049"/>
                  </a:moveTo>
                  <a:lnTo>
                    <a:pt x="4892535" y="2251049"/>
                  </a:lnTo>
                  <a:lnTo>
                    <a:pt x="4892535" y="2903791"/>
                  </a:lnTo>
                  <a:lnTo>
                    <a:pt x="5179263" y="2903791"/>
                  </a:lnTo>
                  <a:lnTo>
                    <a:pt x="5179263" y="2251049"/>
                  </a:lnTo>
                  <a:close/>
                </a:path>
                <a:path extrusionOk="0" h="2903854" w="6808470">
                  <a:moveTo>
                    <a:pt x="6808063" y="2854985"/>
                  </a:moveTo>
                  <a:lnTo>
                    <a:pt x="6527444" y="2854985"/>
                  </a:lnTo>
                  <a:lnTo>
                    <a:pt x="6527444" y="2903791"/>
                  </a:lnTo>
                  <a:lnTo>
                    <a:pt x="6808063" y="2903791"/>
                  </a:lnTo>
                  <a:lnTo>
                    <a:pt x="6808063" y="2854985"/>
                  </a:lnTo>
                  <a:close/>
                </a:path>
              </a:pathLst>
            </a:custGeom>
            <a:solidFill>
              <a:srgbClr val="ED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7" name="Google Shape;167;p8"/>
            <p:cNvSpPr/>
            <p:nvPr/>
          </p:nvSpPr>
          <p:spPr>
            <a:xfrm>
              <a:off x="3488575" y="2836760"/>
              <a:ext cx="6808470" cy="2025650"/>
            </a:xfrm>
            <a:custGeom>
              <a:rect b="b" l="l" r="r" t="t"/>
              <a:pathLst>
                <a:path extrusionOk="0" h="2025650" w="6808470">
                  <a:moveTo>
                    <a:pt x="280619" y="1226185"/>
                  </a:moveTo>
                  <a:lnTo>
                    <a:pt x="0" y="1226185"/>
                  </a:lnTo>
                  <a:lnTo>
                    <a:pt x="0" y="2025332"/>
                  </a:lnTo>
                  <a:lnTo>
                    <a:pt x="280619" y="2025332"/>
                  </a:lnTo>
                  <a:lnTo>
                    <a:pt x="280619" y="1226185"/>
                  </a:lnTo>
                  <a:close/>
                </a:path>
                <a:path extrusionOk="0" h="2025650" w="6808470">
                  <a:moveTo>
                    <a:pt x="1915528" y="1793519"/>
                  </a:moveTo>
                  <a:lnTo>
                    <a:pt x="1628813" y="1793519"/>
                  </a:lnTo>
                  <a:lnTo>
                    <a:pt x="1628813" y="2025332"/>
                  </a:lnTo>
                  <a:lnTo>
                    <a:pt x="1915528" y="2025332"/>
                  </a:lnTo>
                  <a:lnTo>
                    <a:pt x="1915528" y="1793519"/>
                  </a:lnTo>
                  <a:close/>
                </a:path>
                <a:path extrusionOk="0" h="2025650" w="6808470">
                  <a:moveTo>
                    <a:pt x="3544341" y="1628800"/>
                  </a:moveTo>
                  <a:lnTo>
                    <a:pt x="3257626" y="1628800"/>
                  </a:lnTo>
                  <a:lnTo>
                    <a:pt x="3257626" y="2025332"/>
                  </a:lnTo>
                  <a:lnTo>
                    <a:pt x="3544341" y="2025332"/>
                  </a:lnTo>
                  <a:lnTo>
                    <a:pt x="3544341" y="1628800"/>
                  </a:lnTo>
                  <a:close/>
                </a:path>
                <a:path extrusionOk="0" h="2025650" w="6808470">
                  <a:moveTo>
                    <a:pt x="5173154" y="1586103"/>
                  </a:moveTo>
                  <a:lnTo>
                    <a:pt x="4892535" y="1586103"/>
                  </a:lnTo>
                  <a:lnTo>
                    <a:pt x="4892535" y="2025332"/>
                  </a:lnTo>
                  <a:lnTo>
                    <a:pt x="5173154" y="2025332"/>
                  </a:lnTo>
                  <a:lnTo>
                    <a:pt x="5173154" y="1586103"/>
                  </a:lnTo>
                  <a:close/>
                </a:path>
                <a:path extrusionOk="0" h="2025650" w="6808470">
                  <a:moveTo>
                    <a:pt x="6808063" y="0"/>
                  </a:moveTo>
                  <a:lnTo>
                    <a:pt x="6521348" y="0"/>
                  </a:lnTo>
                  <a:lnTo>
                    <a:pt x="6521348" y="2025332"/>
                  </a:lnTo>
                  <a:lnTo>
                    <a:pt x="6808063" y="2025332"/>
                  </a:lnTo>
                  <a:lnTo>
                    <a:pt x="6808063" y="0"/>
                  </a:lnTo>
                  <a:close/>
                </a:path>
              </a:pathLst>
            </a:custGeom>
            <a:solidFill>
              <a:srgbClr val="E2F0D9">
                <a:alpha val="6509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8" name="Google Shape;168;p8"/>
            <p:cNvSpPr/>
            <p:nvPr/>
          </p:nvSpPr>
          <p:spPr>
            <a:xfrm>
              <a:off x="3848506" y="3855529"/>
              <a:ext cx="6808470" cy="1007110"/>
            </a:xfrm>
            <a:custGeom>
              <a:rect b="b" l="l" r="r" t="t"/>
              <a:pathLst>
                <a:path extrusionOk="0" h="1007110" w="6808470">
                  <a:moveTo>
                    <a:pt x="286715" y="683247"/>
                  </a:moveTo>
                  <a:lnTo>
                    <a:pt x="0" y="683247"/>
                  </a:lnTo>
                  <a:lnTo>
                    <a:pt x="0" y="1006563"/>
                  </a:lnTo>
                  <a:lnTo>
                    <a:pt x="286715" y="1006563"/>
                  </a:lnTo>
                  <a:lnTo>
                    <a:pt x="286715" y="683247"/>
                  </a:lnTo>
                  <a:close/>
                </a:path>
                <a:path extrusionOk="0" h="1007110" w="6808470">
                  <a:moveTo>
                    <a:pt x="1915528" y="707644"/>
                  </a:moveTo>
                  <a:lnTo>
                    <a:pt x="1628813" y="707644"/>
                  </a:lnTo>
                  <a:lnTo>
                    <a:pt x="1628813" y="1006563"/>
                  </a:lnTo>
                  <a:lnTo>
                    <a:pt x="1915528" y="1006563"/>
                  </a:lnTo>
                  <a:lnTo>
                    <a:pt x="1915528" y="707644"/>
                  </a:lnTo>
                  <a:close/>
                </a:path>
                <a:path extrusionOk="0" h="1007110" w="6808470">
                  <a:moveTo>
                    <a:pt x="3544341" y="658837"/>
                  </a:moveTo>
                  <a:lnTo>
                    <a:pt x="3263722" y="658837"/>
                  </a:lnTo>
                  <a:lnTo>
                    <a:pt x="3263722" y="1006563"/>
                  </a:lnTo>
                  <a:lnTo>
                    <a:pt x="3544341" y="1006563"/>
                  </a:lnTo>
                  <a:lnTo>
                    <a:pt x="3544341" y="658837"/>
                  </a:lnTo>
                  <a:close/>
                </a:path>
                <a:path extrusionOk="0" h="1007110" w="6808470">
                  <a:moveTo>
                    <a:pt x="5179250" y="805256"/>
                  </a:moveTo>
                  <a:lnTo>
                    <a:pt x="4892535" y="805256"/>
                  </a:lnTo>
                  <a:lnTo>
                    <a:pt x="4892535" y="1006563"/>
                  </a:lnTo>
                  <a:lnTo>
                    <a:pt x="5179250" y="1006563"/>
                  </a:lnTo>
                  <a:lnTo>
                    <a:pt x="5179250" y="805256"/>
                  </a:lnTo>
                  <a:close/>
                </a:path>
                <a:path extrusionOk="0" h="1007110" w="6808470">
                  <a:moveTo>
                    <a:pt x="6808063" y="0"/>
                  </a:moveTo>
                  <a:lnTo>
                    <a:pt x="6521336" y="0"/>
                  </a:lnTo>
                  <a:lnTo>
                    <a:pt x="6521336" y="1006563"/>
                  </a:lnTo>
                  <a:lnTo>
                    <a:pt x="6808063" y="1006563"/>
                  </a:lnTo>
                  <a:lnTo>
                    <a:pt x="6808063" y="0"/>
                  </a:lnTo>
                  <a:close/>
                </a:path>
              </a:pathLst>
            </a:custGeom>
            <a:solidFill>
              <a:srgbClr val="C5E0B4">
                <a:alpha val="6470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9" name="Google Shape;169;p8"/>
            <p:cNvSpPr/>
            <p:nvPr/>
          </p:nvSpPr>
          <p:spPr>
            <a:xfrm>
              <a:off x="2811438" y="4862088"/>
              <a:ext cx="8156575" cy="0"/>
            </a:xfrm>
            <a:custGeom>
              <a:rect b="b" l="l" r="r" t="t"/>
              <a:pathLst>
                <a:path extrusionOk="0" h="120000" w="8156575">
                  <a:moveTo>
                    <a:pt x="0" y="0"/>
                  </a:moveTo>
                  <a:lnTo>
                    <a:pt x="8156256"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70" name="Google Shape;170;p8"/>
          <p:cNvSpPr txBox="1"/>
          <p:nvPr/>
        </p:nvSpPr>
        <p:spPr>
          <a:xfrm>
            <a:off x="3112596" y="1738176"/>
            <a:ext cx="32258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39113</a:t>
            </a:r>
            <a:endParaRPr sz="950">
              <a:latin typeface="Calibri"/>
              <a:ea typeface="Calibri"/>
              <a:cs typeface="Calibri"/>
              <a:sym typeface="Calibri"/>
            </a:endParaRPr>
          </a:p>
        </p:txBody>
      </p:sp>
      <p:sp>
        <p:nvSpPr>
          <p:cNvPr id="171" name="Google Shape;171;p8"/>
          <p:cNvSpPr txBox="1"/>
          <p:nvPr/>
        </p:nvSpPr>
        <p:spPr>
          <a:xfrm>
            <a:off x="4743480" y="3568300"/>
            <a:ext cx="32258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14476</a:t>
            </a:r>
            <a:endParaRPr sz="950">
              <a:latin typeface="Calibri"/>
              <a:ea typeface="Calibri"/>
              <a:cs typeface="Calibri"/>
              <a:sym typeface="Calibri"/>
            </a:endParaRPr>
          </a:p>
        </p:txBody>
      </p:sp>
      <p:sp>
        <p:nvSpPr>
          <p:cNvPr id="172" name="Google Shape;172;p8"/>
          <p:cNvSpPr txBox="1"/>
          <p:nvPr/>
        </p:nvSpPr>
        <p:spPr>
          <a:xfrm>
            <a:off x="6374366" y="2982660"/>
            <a:ext cx="32258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22385</a:t>
            </a:r>
            <a:endParaRPr sz="950">
              <a:latin typeface="Calibri"/>
              <a:ea typeface="Calibri"/>
              <a:cs typeface="Calibri"/>
              <a:sym typeface="Calibri"/>
            </a:endParaRPr>
          </a:p>
        </p:txBody>
      </p:sp>
      <p:sp>
        <p:nvSpPr>
          <p:cNvPr id="173" name="Google Shape;173;p8"/>
          <p:cNvSpPr txBox="1"/>
          <p:nvPr/>
        </p:nvSpPr>
        <p:spPr>
          <a:xfrm>
            <a:off x="8036180" y="3995329"/>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8788</a:t>
            </a:r>
            <a:endParaRPr sz="950">
              <a:latin typeface="Calibri"/>
              <a:ea typeface="Calibri"/>
              <a:cs typeface="Calibri"/>
              <a:sym typeface="Calibri"/>
            </a:endParaRPr>
          </a:p>
        </p:txBody>
      </p:sp>
      <p:sp>
        <p:nvSpPr>
          <p:cNvPr id="174" name="Google Shape;174;p8"/>
          <p:cNvSpPr txBox="1"/>
          <p:nvPr/>
        </p:nvSpPr>
        <p:spPr>
          <a:xfrm>
            <a:off x="9697994" y="4599270"/>
            <a:ext cx="198755"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658</a:t>
            </a:r>
            <a:endParaRPr sz="950">
              <a:latin typeface="Calibri"/>
              <a:ea typeface="Calibri"/>
              <a:cs typeface="Calibri"/>
              <a:sym typeface="Calibri"/>
            </a:endParaRPr>
          </a:p>
        </p:txBody>
      </p:sp>
      <p:sp>
        <p:nvSpPr>
          <p:cNvPr id="175" name="Google Shape;175;p8"/>
          <p:cNvSpPr txBox="1"/>
          <p:nvPr/>
        </p:nvSpPr>
        <p:spPr>
          <a:xfrm>
            <a:off x="3474065" y="3842818"/>
            <a:ext cx="32258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10785</a:t>
            </a:r>
            <a:endParaRPr sz="950">
              <a:latin typeface="Calibri"/>
              <a:ea typeface="Calibri"/>
              <a:cs typeface="Calibri"/>
              <a:sym typeface="Calibri"/>
            </a:endParaRPr>
          </a:p>
        </p:txBody>
      </p:sp>
      <p:sp>
        <p:nvSpPr>
          <p:cNvPr id="176" name="Google Shape;176;p8"/>
          <p:cNvSpPr txBox="1"/>
          <p:nvPr/>
        </p:nvSpPr>
        <p:spPr>
          <a:xfrm>
            <a:off x="5135879" y="4416258"/>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3111</a:t>
            </a:r>
            <a:endParaRPr sz="950">
              <a:latin typeface="Calibri"/>
              <a:ea typeface="Calibri"/>
              <a:cs typeface="Calibri"/>
              <a:sym typeface="Calibri"/>
            </a:endParaRPr>
          </a:p>
        </p:txBody>
      </p:sp>
      <p:sp>
        <p:nvSpPr>
          <p:cNvPr id="177" name="Google Shape;177;p8"/>
          <p:cNvSpPr txBox="1"/>
          <p:nvPr/>
        </p:nvSpPr>
        <p:spPr>
          <a:xfrm>
            <a:off x="6766766" y="4251547"/>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5315</a:t>
            </a:r>
            <a:endParaRPr sz="950">
              <a:latin typeface="Calibri"/>
              <a:ea typeface="Calibri"/>
              <a:cs typeface="Calibri"/>
              <a:sym typeface="Calibri"/>
            </a:endParaRPr>
          </a:p>
        </p:txBody>
      </p:sp>
      <p:sp>
        <p:nvSpPr>
          <p:cNvPr id="178" name="Google Shape;178;p8"/>
          <p:cNvSpPr txBox="1"/>
          <p:nvPr/>
        </p:nvSpPr>
        <p:spPr>
          <a:xfrm>
            <a:off x="8397648" y="4208844"/>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5874</a:t>
            </a:r>
            <a:endParaRPr sz="950">
              <a:latin typeface="Calibri"/>
              <a:ea typeface="Calibri"/>
              <a:cs typeface="Calibri"/>
              <a:sym typeface="Calibri"/>
            </a:endParaRPr>
          </a:p>
        </p:txBody>
      </p:sp>
      <p:sp>
        <p:nvSpPr>
          <p:cNvPr id="179" name="Google Shape;179;p8"/>
          <p:cNvSpPr txBox="1"/>
          <p:nvPr/>
        </p:nvSpPr>
        <p:spPr>
          <a:xfrm>
            <a:off x="9997606" y="2616635"/>
            <a:ext cx="32258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27297</a:t>
            </a:r>
            <a:endParaRPr sz="950">
              <a:latin typeface="Calibri"/>
              <a:ea typeface="Calibri"/>
              <a:cs typeface="Calibri"/>
              <a:sym typeface="Calibri"/>
            </a:endParaRPr>
          </a:p>
        </p:txBody>
      </p:sp>
      <p:sp>
        <p:nvSpPr>
          <p:cNvPr id="180" name="Google Shape;180;p8"/>
          <p:cNvSpPr txBox="1"/>
          <p:nvPr/>
        </p:nvSpPr>
        <p:spPr>
          <a:xfrm>
            <a:off x="3866464" y="4318651"/>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4381</a:t>
            </a:r>
            <a:endParaRPr sz="950">
              <a:latin typeface="Calibri"/>
              <a:ea typeface="Calibri"/>
              <a:cs typeface="Calibri"/>
              <a:sym typeface="Calibri"/>
            </a:endParaRPr>
          </a:p>
        </p:txBody>
      </p:sp>
      <p:sp>
        <p:nvSpPr>
          <p:cNvPr id="181" name="Google Shape;181;p8"/>
          <p:cNvSpPr txBox="1"/>
          <p:nvPr/>
        </p:nvSpPr>
        <p:spPr>
          <a:xfrm>
            <a:off x="5497348" y="4349153"/>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4009</a:t>
            </a:r>
            <a:endParaRPr sz="950">
              <a:latin typeface="Calibri"/>
              <a:ea typeface="Calibri"/>
              <a:cs typeface="Calibri"/>
              <a:sym typeface="Calibri"/>
            </a:endParaRPr>
          </a:p>
        </p:txBody>
      </p:sp>
      <p:sp>
        <p:nvSpPr>
          <p:cNvPr id="182" name="Google Shape;182;p8"/>
          <p:cNvSpPr txBox="1"/>
          <p:nvPr/>
        </p:nvSpPr>
        <p:spPr>
          <a:xfrm>
            <a:off x="7128234" y="4294249"/>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4714</a:t>
            </a:r>
            <a:endParaRPr sz="950">
              <a:latin typeface="Calibri"/>
              <a:ea typeface="Calibri"/>
              <a:cs typeface="Calibri"/>
              <a:sym typeface="Calibri"/>
            </a:endParaRPr>
          </a:p>
        </p:txBody>
      </p:sp>
      <p:sp>
        <p:nvSpPr>
          <p:cNvPr id="183" name="Google Shape;183;p8"/>
          <p:cNvSpPr txBox="1"/>
          <p:nvPr/>
        </p:nvSpPr>
        <p:spPr>
          <a:xfrm>
            <a:off x="8759120" y="4446759"/>
            <a:ext cx="26035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2703</a:t>
            </a:r>
            <a:endParaRPr sz="950">
              <a:latin typeface="Calibri"/>
              <a:ea typeface="Calibri"/>
              <a:cs typeface="Calibri"/>
              <a:sym typeface="Calibri"/>
            </a:endParaRPr>
          </a:p>
        </p:txBody>
      </p:sp>
      <p:sp>
        <p:nvSpPr>
          <p:cNvPr id="184" name="Google Shape;184;p8"/>
          <p:cNvSpPr txBox="1"/>
          <p:nvPr/>
        </p:nvSpPr>
        <p:spPr>
          <a:xfrm>
            <a:off x="10359076" y="3641504"/>
            <a:ext cx="322580" cy="172085"/>
          </a:xfrm>
          <a:prstGeom prst="rect">
            <a:avLst/>
          </a:prstGeom>
          <a:noFill/>
          <a:ln>
            <a:noFill/>
          </a:ln>
        </p:spPr>
        <p:txBody>
          <a:bodyPr anchorCtr="0" anchor="t" bIns="0" lIns="0" spcFirstLastPara="1" rIns="0" wrap="square" tIns="13950">
            <a:spAutoFit/>
          </a:bodyPr>
          <a:lstStyle/>
          <a:p>
            <a:pPr indent="0" lvl="0" marL="0" rtl="0" algn="l">
              <a:lnSpc>
                <a:spcPct val="100000"/>
              </a:lnSpc>
              <a:spcBef>
                <a:spcPts val="0"/>
              </a:spcBef>
              <a:spcAft>
                <a:spcPts val="0"/>
              </a:spcAft>
              <a:buNone/>
            </a:pPr>
            <a:r>
              <a:rPr lang="en-US" sz="950">
                <a:solidFill>
                  <a:srgbClr val="404040"/>
                </a:solidFill>
                <a:latin typeface="Calibri"/>
                <a:ea typeface="Calibri"/>
                <a:cs typeface="Calibri"/>
                <a:sym typeface="Calibri"/>
              </a:rPr>
              <a:t>13531</a:t>
            </a:r>
            <a:endParaRPr sz="950">
              <a:latin typeface="Calibri"/>
              <a:ea typeface="Calibri"/>
              <a:cs typeface="Calibri"/>
              <a:sym typeface="Calibri"/>
            </a:endParaRPr>
          </a:p>
        </p:txBody>
      </p:sp>
      <p:sp>
        <p:nvSpPr>
          <p:cNvPr id="185" name="Google Shape;185;p8"/>
          <p:cNvSpPr txBox="1"/>
          <p:nvPr/>
        </p:nvSpPr>
        <p:spPr>
          <a:xfrm>
            <a:off x="3128383" y="4946994"/>
            <a:ext cx="1017905" cy="230504"/>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350">
                <a:solidFill>
                  <a:srgbClr val="595959"/>
                </a:solidFill>
                <a:latin typeface="Calibri"/>
                <a:ea typeface="Calibri"/>
                <a:cs typeface="Calibri"/>
                <a:sym typeface="Calibri"/>
              </a:rPr>
              <a:t>Within 1 week</a:t>
            </a:r>
            <a:endParaRPr sz="1350">
              <a:latin typeface="Calibri"/>
              <a:ea typeface="Calibri"/>
              <a:cs typeface="Calibri"/>
              <a:sym typeface="Calibri"/>
            </a:endParaRPr>
          </a:p>
        </p:txBody>
      </p:sp>
      <p:sp>
        <p:nvSpPr>
          <p:cNvPr id="186" name="Google Shape;186;p8"/>
          <p:cNvSpPr txBox="1"/>
          <p:nvPr/>
        </p:nvSpPr>
        <p:spPr>
          <a:xfrm>
            <a:off x="4909309" y="4946994"/>
            <a:ext cx="714375" cy="230504"/>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350">
                <a:solidFill>
                  <a:srgbClr val="595959"/>
                </a:solidFill>
                <a:latin typeface="Calibri"/>
                <a:ea typeface="Calibri"/>
                <a:cs typeface="Calibri"/>
                <a:sym typeface="Calibri"/>
              </a:rPr>
              <a:t>1-4 weeks</a:t>
            </a:r>
            <a:endParaRPr sz="1350">
              <a:latin typeface="Calibri"/>
              <a:ea typeface="Calibri"/>
              <a:cs typeface="Calibri"/>
              <a:sym typeface="Calibri"/>
            </a:endParaRPr>
          </a:p>
        </p:txBody>
      </p:sp>
      <p:sp>
        <p:nvSpPr>
          <p:cNvPr id="187" name="Google Shape;187;p8"/>
          <p:cNvSpPr txBox="1"/>
          <p:nvPr/>
        </p:nvSpPr>
        <p:spPr>
          <a:xfrm>
            <a:off x="6493433" y="4946994"/>
            <a:ext cx="812165" cy="230504"/>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350">
                <a:solidFill>
                  <a:srgbClr val="595959"/>
                </a:solidFill>
                <a:latin typeface="Calibri"/>
                <a:ea typeface="Calibri"/>
                <a:cs typeface="Calibri"/>
                <a:sym typeface="Calibri"/>
              </a:rPr>
              <a:t>1-2 months</a:t>
            </a:r>
            <a:endParaRPr sz="1350">
              <a:latin typeface="Calibri"/>
              <a:ea typeface="Calibri"/>
              <a:cs typeface="Calibri"/>
              <a:sym typeface="Calibri"/>
            </a:endParaRPr>
          </a:p>
        </p:txBody>
      </p:sp>
      <p:sp>
        <p:nvSpPr>
          <p:cNvPr id="188" name="Google Shape;188;p8"/>
          <p:cNvSpPr txBox="1"/>
          <p:nvPr/>
        </p:nvSpPr>
        <p:spPr>
          <a:xfrm>
            <a:off x="8124319" y="4946994"/>
            <a:ext cx="812165" cy="230504"/>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350">
                <a:solidFill>
                  <a:srgbClr val="595959"/>
                </a:solidFill>
                <a:latin typeface="Calibri"/>
                <a:ea typeface="Calibri"/>
                <a:cs typeface="Calibri"/>
                <a:sym typeface="Calibri"/>
              </a:rPr>
              <a:t>2-3 months</a:t>
            </a:r>
            <a:endParaRPr sz="1350">
              <a:latin typeface="Calibri"/>
              <a:ea typeface="Calibri"/>
              <a:cs typeface="Calibri"/>
              <a:sym typeface="Calibri"/>
            </a:endParaRPr>
          </a:p>
        </p:txBody>
      </p:sp>
      <p:sp>
        <p:nvSpPr>
          <p:cNvPr id="189" name="Google Shape;189;p8"/>
          <p:cNvSpPr txBox="1"/>
          <p:nvPr/>
        </p:nvSpPr>
        <p:spPr>
          <a:xfrm>
            <a:off x="9436426" y="4946994"/>
            <a:ext cx="1446530" cy="230504"/>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350">
                <a:solidFill>
                  <a:srgbClr val="595959"/>
                </a:solidFill>
                <a:latin typeface="Calibri"/>
                <a:ea typeface="Calibri"/>
                <a:cs typeface="Calibri"/>
                <a:sym typeface="Calibri"/>
              </a:rPr>
              <a:t>More than 3 months</a:t>
            </a:r>
            <a:endParaRPr sz="1350">
              <a:latin typeface="Calibri"/>
              <a:ea typeface="Calibri"/>
              <a:cs typeface="Calibri"/>
              <a:sym typeface="Calibri"/>
            </a:endParaRPr>
          </a:p>
        </p:txBody>
      </p:sp>
      <p:sp>
        <p:nvSpPr>
          <p:cNvPr id="190" name="Google Shape;190;p8"/>
          <p:cNvSpPr txBox="1"/>
          <p:nvPr/>
        </p:nvSpPr>
        <p:spPr>
          <a:xfrm rot="-5400000">
            <a:off x="2145575" y="3089144"/>
            <a:ext cx="1109980" cy="204470"/>
          </a:xfrm>
          <a:prstGeom prst="rect">
            <a:avLst/>
          </a:prstGeom>
          <a:noFill/>
          <a:ln>
            <a:noFill/>
          </a:ln>
        </p:spPr>
        <p:txBody>
          <a:bodyPr anchorCtr="0" anchor="t" bIns="0" lIns="0" spcFirstLastPara="1" rIns="0" wrap="square" tIns="5700">
            <a:spAutoFit/>
          </a:bodyPr>
          <a:lstStyle/>
          <a:p>
            <a:pPr indent="0" lvl="0" marL="12700" rtl="0" algn="l">
              <a:lnSpc>
                <a:spcPct val="100000"/>
              </a:lnSpc>
              <a:spcBef>
                <a:spcPts val="0"/>
              </a:spcBef>
              <a:spcAft>
                <a:spcPts val="0"/>
              </a:spcAft>
              <a:buNone/>
            </a:pPr>
            <a:r>
              <a:rPr lang="en-US" sz="1150">
                <a:solidFill>
                  <a:srgbClr val="595959"/>
                </a:solidFill>
                <a:latin typeface="Calibri"/>
                <a:ea typeface="Calibri"/>
                <a:cs typeface="Calibri"/>
                <a:sym typeface="Calibri"/>
              </a:rPr>
              <a:t>Number of Tickets</a:t>
            </a:r>
            <a:endParaRPr sz="1150">
              <a:latin typeface="Calibri"/>
              <a:ea typeface="Calibri"/>
              <a:cs typeface="Calibri"/>
              <a:sym typeface="Calibri"/>
            </a:endParaRPr>
          </a:p>
        </p:txBody>
      </p:sp>
      <p:sp>
        <p:nvSpPr>
          <p:cNvPr id="191" name="Google Shape;191;p8"/>
          <p:cNvSpPr txBox="1"/>
          <p:nvPr/>
        </p:nvSpPr>
        <p:spPr>
          <a:xfrm>
            <a:off x="5762758" y="1280644"/>
            <a:ext cx="2138045" cy="289560"/>
          </a:xfrm>
          <a:prstGeom prst="rect">
            <a:avLst/>
          </a:prstGeom>
          <a:noFill/>
          <a:ln>
            <a:noFill/>
          </a:ln>
        </p:spPr>
        <p:txBody>
          <a:bodyPr anchorCtr="0" anchor="t" bIns="0" lIns="0" spcFirstLastPara="1" rIns="0" wrap="square" tIns="16500">
            <a:spAutoFit/>
          </a:bodyPr>
          <a:lstStyle/>
          <a:p>
            <a:pPr indent="0" lvl="0" marL="0" rtl="0" algn="l">
              <a:lnSpc>
                <a:spcPct val="100000"/>
              </a:lnSpc>
              <a:spcBef>
                <a:spcPts val="0"/>
              </a:spcBef>
              <a:spcAft>
                <a:spcPts val="0"/>
              </a:spcAft>
              <a:buNone/>
            </a:pPr>
            <a:r>
              <a:rPr b="1" lang="en-US" sz="1700">
                <a:solidFill>
                  <a:srgbClr val="595959"/>
                </a:solidFill>
                <a:latin typeface="Calibri"/>
                <a:ea typeface="Calibri"/>
                <a:cs typeface="Calibri"/>
                <a:sym typeface="Calibri"/>
              </a:rPr>
              <a:t>Close Time Distribution</a:t>
            </a:r>
            <a:endParaRPr sz="1700">
              <a:latin typeface="Calibri"/>
              <a:ea typeface="Calibri"/>
              <a:cs typeface="Calibri"/>
              <a:sym typeface="Calibri"/>
            </a:endParaRPr>
          </a:p>
        </p:txBody>
      </p:sp>
      <p:sp>
        <p:nvSpPr>
          <p:cNvPr id="192" name="Google Shape;192;p8"/>
          <p:cNvSpPr/>
          <p:nvPr/>
        </p:nvSpPr>
        <p:spPr>
          <a:xfrm>
            <a:off x="4458550" y="2147403"/>
            <a:ext cx="79375" cy="79375"/>
          </a:xfrm>
          <a:custGeom>
            <a:rect b="b" l="l" r="r" t="t"/>
            <a:pathLst>
              <a:path extrusionOk="0" h="79375" w="79375">
                <a:moveTo>
                  <a:pt x="79305" y="0"/>
                </a:moveTo>
                <a:lnTo>
                  <a:pt x="0" y="0"/>
                </a:lnTo>
                <a:lnTo>
                  <a:pt x="0" y="79305"/>
                </a:lnTo>
                <a:lnTo>
                  <a:pt x="79305" y="79305"/>
                </a:lnTo>
                <a:lnTo>
                  <a:pt x="79305" y="0"/>
                </a:lnTo>
                <a:close/>
              </a:path>
            </a:pathLst>
          </a:custGeom>
          <a:solidFill>
            <a:srgbClr val="ED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3" name="Google Shape;193;p8"/>
          <p:cNvSpPr txBox="1"/>
          <p:nvPr/>
        </p:nvSpPr>
        <p:spPr>
          <a:xfrm>
            <a:off x="4571762" y="2061497"/>
            <a:ext cx="1610360" cy="20129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150">
                <a:solidFill>
                  <a:srgbClr val="595959"/>
                </a:solidFill>
                <a:latin typeface="Calibri"/>
                <a:ea typeface="Calibri"/>
                <a:cs typeface="Calibri"/>
                <a:sym typeface="Calibri"/>
              </a:rPr>
              <a:t>Garbage Cart Maintenance</a:t>
            </a:r>
            <a:endParaRPr sz="1150">
              <a:latin typeface="Calibri"/>
              <a:ea typeface="Calibri"/>
              <a:cs typeface="Calibri"/>
              <a:sym typeface="Calibri"/>
            </a:endParaRPr>
          </a:p>
        </p:txBody>
      </p:sp>
      <p:sp>
        <p:nvSpPr>
          <p:cNvPr id="194" name="Google Shape;194;p8"/>
          <p:cNvSpPr/>
          <p:nvPr/>
        </p:nvSpPr>
        <p:spPr>
          <a:xfrm>
            <a:off x="6447285" y="2147403"/>
            <a:ext cx="79375" cy="79375"/>
          </a:xfrm>
          <a:custGeom>
            <a:rect b="b" l="l" r="r" t="t"/>
            <a:pathLst>
              <a:path extrusionOk="0" h="79375" w="79375">
                <a:moveTo>
                  <a:pt x="79305" y="0"/>
                </a:moveTo>
                <a:lnTo>
                  <a:pt x="0" y="0"/>
                </a:lnTo>
                <a:lnTo>
                  <a:pt x="0" y="79305"/>
                </a:lnTo>
                <a:lnTo>
                  <a:pt x="79305" y="79305"/>
                </a:lnTo>
                <a:lnTo>
                  <a:pt x="79305" y="0"/>
                </a:lnTo>
                <a:close/>
              </a:path>
            </a:pathLst>
          </a:custGeom>
          <a:solidFill>
            <a:srgbClr val="E2F0D9">
              <a:alpha val="6509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5" name="Google Shape;195;p8"/>
          <p:cNvSpPr txBox="1"/>
          <p:nvPr/>
        </p:nvSpPr>
        <p:spPr>
          <a:xfrm>
            <a:off x="6561939" y="2061497"/>
            <a:ext cx="1111250" cy="20129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150">
                <a:solidFill>
                  <a:srgbClr val="595959"/>
                </a:solidFill>
                <a:latin typeface="Calibri"/>
                <a:ea typeface="Calibri"/>
                <a:cs typeface="Calibri"/>
                <a:sym typeface="Calibri"/>
              </a:rPr>
              <a:t>Tree Trim Request</a:t>
            </a:r>
            <a:endParaRPr sz="1150">
              <a:latin typeface="Calibri"/>
              <a:ea typeface="Calibri"/>
              <a:cs typeface="Calibri"/>
              <a:sym typeface="Calibri"/>
            </a:endParaRPr>
          </a:p>
        </p:txBody>
      </p:sp>
      <p:sp>
        <p:nvSpPr>
          <p:cNvPr id="196" name="Google Shape;196;p8"/>
          <p:cNvSpPr/>
          <p:nvPr/>
        </p:nvSpPr>
        <p:spPr>
          <a:xfrm>
            <a:off x="7923586" y="2147403"/>
            <a:ext cx="79375" cy="79375"/>
          </a:xfrm>
          <a:custGeom>
            <a:rect b="b" l="l" r="r" t="t"/>
            <a:pathLst>
              <a:path extrusionOk="0" h="79375" w="79375">
                <a:moveTo>
                  <a:pt x="79305" y="0"/>
                </a:moveTo>
                <a:lnTo>
                  <a:pt x="0" y="0"/>
                </a:lnTo>
                <a:lnTo>
                  <a:pt x="0" y="79305"/>
                </a:lnTo>
                <a:lnTo>
                  <a:pt x="79305" y="79305"/>
                </a:lnTo>
                <a:lnTo>
                  <a:pt x="79305" y="0"/>
                </a:lnTo>
                <a:close/>
              </a:path>
            </a:pathLst>
          </a:custGeom>
          <a:solidFill>
            <a:srgbClr val="C5E0B4">
              <a:alpha val="6470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7" name="Google Shape;197;p8"/>
          <p:cNvSpPr txBox="1"/>
          <p:nvPr/>
        </p:nvSpPr>
        <p:spPr>
          <a:xfrm>
            <a:off x="8041266" y="2061497"/>
            <a:ext cx="1343025" cy="20129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150">
                <a:solidFill>
                  <a:srgbClr val="595959"/>
                </a:solidFill>
                <a:latin typeface="Calibri"/>
                <a:ea typeface="Calibri"/>
                <a:cs typeface="Calibri"/>
                <a:sym typeface="Calibri"/>
              </a:rPr>
              <a:t>Tree Removal Request</a:t>
            </a:r>
            <a:endParaRPr sz="1150">
              <a:latin typeface="Calibri"/>
              <a:ea typeface="Calibri"/>
              <a:cs typeface="Calibri"/>
              <a:sym typeface="Calibri"/>
            </a:endParaRPr>
          </a:p>
        </p:txBody>
      </p:sp>
      <p:grpSp>
        <p:nvGrpSpPr>
          <p:cNvPr id="198" name="Google Shape;198;p8"/>
          <p:cNvGrpSpPr/>
          <p:nvPr/>
        </p:nvGrpSpPr>
        <p:grpSpPr>
          <a:xfrm>
            <a:off x="2446751" y="989662"/>
            <a:ext cx="8672195" cy="4609465"/>
            <a:chOff x="2446751" y="989662"/>
            <a:chExt cx="8672195" cy="4609465"/>
          </a:xfrm>
        </p:grpSpPr>
        <p:sp>
          <p:nvSpPr>
            <p:cNvPr id="199" name="Google Shape;199;p8"/>
            <p:cNvSpPr/>
            <p:nvPr/>
          </p:nvSpPr>
          <p:spPr>
            <a:xfrm>
              <a:off x="2463714" y="1006626"/>
              <a:ext cx="8638540" cy="4575810"/>
            </a:xfrm>
            <a:custGeom>
              <a:rect b="b" l="l" r="r" t="t"/>
              <a:pathLst>
                <a:path extrusionOk="0" h="4575810" w="8638540">
                  <a:moveTo>
                    <a:pt x="0" y="0"/>
                  </a:moveTo>
                  <a:lnTo>
                    <a:pt x="8638188" y="0"/>
                  </a:lnTo>
                  <a:lnTo>
                    <a:pt x="8638188" y="4575311"/>
                  </a:lnTo>
                  <a:lnTo>
                    <a:pt x="0" y="4575311"/>
                  </a:lnTo>
                  <a:lnTo>
                    <a:pt x="0" y="0"/>
                  </a:lnTo>
                  <a:close/>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0" name="Google Shape;200;p8"/>
            <p:cNvSpPr/>
            <p:nvPr/>
          </p:nvSpPr>
          <p:spPr>
            <a:xfrm>
              <a:off x="2446751" y="989662"/>
              <a:ext cx="8672195" cy="4609465"/>
            </a:xfrm>
            <a:custGeom>
              <a:rect b="b" l="l" r="r" t="t"/>
              <a:pathLst>
                <a:path extrusionOk="0" h="4609465" w="8672195">
                  <a:moveTo>
                    <a:pt x="0" y="0"/>
                  </a:moveTo>
                  <a:lnTo>
                    <a:pt x="8672116" y="0"/>
                  </a:lnTo>
                  <a:lnTo>
                    <a:pt x="8672116" y="4609238"/>
                  </a:lnTo>
                  <a:lnTo>
                    <a:pt x="0" y="4609238"/>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txBox="1"/>
          <p:nvPr/>
        </p:nvSpPr>
        <p:spPr>
          <a:xfrm>
            <a:off x="652049" y="2576067"/>
            <a:ext cx="1021715" cy="817880"/>
          </a:xfrm>
          <a:prstGeom prst="rect">
            <a:avLst/>
          </a:prstGeom>
          <a:noFill/>
          <a:ln>
            <a:noFill/>
          </a:ln>
        </p:spPr>
        <p:txBody>
          <a:bodyPr anchorCtr="0" anchor="t" bIns="0" lIns="0" spcFirstLastPara="1" rIns="0" wrap="square" tIns="75550">
            <a:spAutoFit/>
          </a:bodyPr>
          <a:lstStyle/>
          <a:p>
            <a:pPr indent="0" lvl="0" marL="12700" marR="5080" rtl="0" algn="l">
              <a:lnSpc>
                <a:spcPct val="102857"/>
              </a:lnSpc>
              <a:spcBef>
                <a:spcPts val="0"/>
              </a:spcBef>
              <a:spcAft>
                <a:spcPts val="0"/>
              </a:spcAft>
              <a:buNone/>
            </a:pPr>
            <a:r>
              <a:rPr lang="en-US" sz="2800">
                <a:latin typeface="Calibri"/>
                <a:ea typeface="Calibri"/>
                <a:cs typeface="Calibri"/>
                <a:sym typeface="Calibri"/>
              </a:rPr>
              <a:t>Priority Regions</a:t>
            </a:r>
            <a:endParaRPr sz="2800">
              <a:latin typeface="Calibri"/>
              <a:ea typeface="Calibri"/>
              <a:cs typeface="Calibri"/>
              <a:sym typeface="Calibri"/>
            </a:endParaRPr>
          </a:p>
        </p:txBody>
      </p:sp>
      <p:sp>
        <p:nvSpPr>
          <p:cNvPr descr="$PPTXTitle" id="206" name="Google Shape;206;p9"/>
          <p:cNvSpPr txBox="1"/>
          <p:nvPr>
            <p:ph type="ctrTitle"/>
          </p:nvPr>
        </p:nvSpPr>
        <p:spPr>
          <a:xfrm>
            <a:off x="2765967" y="1301715"/>
            <a:ext cx="5078095" cy="3244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Which regions are struggling more than others?</a:t>
            </a:r>
            <a:endParaRPr/>
          </a:p>
        </p:txBody>
      </p:sp>
      <p:grpSp>
        <p:nvGrpSpPr>
          <p:cNvPr id="207" name="Google Shape;207;p9"/>
          <p:cNvGrpSpPr/>
          <p:nvPr/>
        </p:nvGrpSpPr>
        <p:grpSpPr>
          <a:xfrm>
            <a:off x="2299520" y="897201"/>
            <a:ext cx="9703029" cy="4276725"/>
            <a:chOff x="2299520" y="897201"/>
            <a:chExt cx="9703029" cy="4276725"/>
          </a:xfrm>
        </p:grpSpPr>
        <p:pic>
          <p:nvPicPr>
            <p:cNvPr id="208" name="Google Shape;208;p9"/>
            <p:cNvPicPr preferRelativeResize="0"/>
            <p:nvPr/>
          </p:nvPicPr>
          <p:blipFill rotWithShape="1">
            <a:blip r:embed="rId3">
              <a:alphaModFix/>
            </a:blip>
            <a:srcRect b="0" l="0" r="0" t="0"/>
            <a:stretch/>
          </p:blipFill>
          <p:spPr>
            <a:xfrm>
              <a:off x="8446232" y="901964"/>
              <a:ext cx="3551361" cy="4266669"/>
            </a:xfrm>
            <a:prstGeom prst="rect">
              <a:avLst/>
            </a:prstGeom>
            <a:noFill/>
            <a:ln>
              <a:noFill/>
            </a:ln>
          </p:spPr>
        </p:pic>
        <p:sp>
          <p:nvSpPr>
            <p:cNvPr id="209" name="Google Shape;209;p9"/>
            <p:cNvSpPr/>
            <p:nvPr/>
          </p:nvSpPr>
          <p:spPr>
            <a:xfrm>
              <a:off x="8441470" y="897201"/>
              <a:ext cx="3561079" cy="4276725"/>
            </a:xfrm>
            <a:custGeom>
              <a:rect b="b" l="l" r="r" t="t"/>
              <a:pathLst>
                <a:path extrusionOk="0" h="4276725" w="3561079">
                  <a:moveTo>
                    <a:pt x="0" y="0"/>
                  </a:moveTo>
                  <a:lnTo>
                    <a:pt x="3560887" y="0"/>
                  </a:lnTo>
                  <a:lnTo>
                    <a:pt x="3560887" y="4276195"/>
                  </a:lnTo>
                  <a:lnTo>
                    <a:pt x="0" y="427619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10" name="Google Shape;210;p9"/>
            <p:cNvPicPr preferRelativeResize="0"/>
            <p:nvPr/>
          </p:nvPicPr>
          <p:blipFill rotWithShape="1">
            <a:blip r:embed="rId4">
              <a:alphaModFix/>
            </a:blip>
            <a:srcRect b="0" l="0" r="0" t="0"/>
            <a:stretch/>
          </p:blipFill>
          <p:spPr>
            <a:xfrm>
              <a:off x="2299520" y="2007782"/>
              <a:ext cx="5995932" cy="2055032"/>
            </a:xfrm>
            <a:prstGeom prst="rect">
              <a:avLst/>
            </a:prstGeom>
            <a:noFill/>
            <a:ln>
              <a:noFill/>
            </a:ln>
          </p:spPr>
        </p:pic>
        <p:sp>
          <p:nvSpPr>
            <p:cNvPr id="211" name="Google Shape;211;p9"/>
            <p:cNvSpPr/>
            <p:nvPr/>
          </p:nvSpPr>
          <p:spPr>
            <a:xfrm>
              <a:off x="3797168" y="2025650"/>
              <a:ext cx="976630" cy="203200"/>
            </a:xfrm>
            <a:custGeom>
              <a:rect b="b" l="l" r="r" t="t"/>
              <a:pathLst>
                <a:path extrusionOk="0" h="203200" w="976629">
                  <a:moveTo>
                    <a:pt x="976411" y="0"/>
                  </a:moveTo>
                  <a:lnTo>
                    <a:pt x="0" y="0"/>
                  </a:lnTo>
                  <a:lnTo>
                    <a:pt x="0" y="203200"/>
                  </a:lnTo>
                  <a:lnTo>
                    <a:pt x="976411" y="203200"/>
                  </a:lnTo>
                  <a:lnTo>
                    <a:pt x="976411" y="0"/>
                  </a:lnTo>
                  <a:close/>
                </a:path>
              </a:pathLst>
            </a:custGeom>
            <a:solidFill>
              <a:srgbClr val="DAE2F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nvSpPr>
        <p:spPr>
          <a:xfrm>
            <a:off x="652049" y="2749803"/>
            <a:ext cx="144907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800">
                <a:latin typeface="Calibri"/>
                <a:ea typeface="Calibri"/>
                <a:cs typeface="Calibri"/>
                <a:sym typeface="Calibri"/>
              </a:rPr>
              <a:t>SUMMARY</a:t>
            </a:r>
            <a:endParaRPr sz="2800">
              <a:latin typeface="Calibri"/>
              <a:ea typeface="Calibri"/>
              <a:cs typeface="Calibri"/>
              <a:sym typeface="Calibri"/>
            </a:endParaRPr>
          </a:p>
        </p:txBody>
      </p:sp>
      <p:sp>
        <p:nvSpPr>
          <p:cNvPr id="217" name="Google Shape;217;p10"/>
          <p:cNvSpPr txBox="1"/>
          <p:nvPr/>
        </p:nvSpPr>
        <p:spPr>
          <a:xfrm>
            <a:off x="2482213" y="825499"/>
            <a:ext cx="8041640" cy="4368800"/>
          </a:xfrm>
          <a:prstGeom prst="rect">
            <a:avLst/>
          </a:prstGeom>
          <a:noFill/>
          <a:ln>
            <a:noFill/>
          </a:ln>
        </p:spPr>
        <p:txBody>
          <a:bodyPr anchorCtr="0" anchor="t" bIns="0" lIns="0" spcFirstLastPara="1" rIns="0" wrap="square" tIns="10775">
            <a:spAutoFit/>
          </a:bodyPr>
          <a:lstStyle/>
          <a:p>
            <a:pPr indent="-228600" lvl="0" marL="241300" marR="76200" rtl="0" algn="just">
              <a:lnSpc>
                <a:spcPct val="120600"/>
              </a:lnSpc>
              <a:spcBef>
                <a:spcPts val="0"/>
              </a:spcBef>
              <a:spcAft>
                <a:spcPts val="0"/>
              </a:spcAft>
              <a:buClr>
                <a:srgbClr val="F3960F"/>
              </a:buClr>
              <a:buSzPts val="2000"/>
              <a:buFont typeface="Noto Sans Symbols"/>
              <a:buChar char="▪"/>
            </a:pPr>
            <a:r>
              <a:rPr lang="en-US" sz="1750">
                <a:latin typeface="Calibri"/>
                <a:ea typeface="Calibri"/>
                <a:cs typeface="Calibri"/>
                <a:sym typeface="Calibri"/>
              </a:rPr>
              <a:t>Prioritize Garbage Cart Maintenance, Tree Trim, and Tree Removal Request </a:t>
            </a:r>
            <a:r>
              <a:rPr lang="en-US" sz="1800">
                <a:latin typeface="Calibri"/>
                <a:ea typeface="Calibri"/>
                <a:cs typeface="Calibri"/>
                <a:sym typeface="Calibri"/>
              </a:rPr>
              <a:t>since they have both high volume and close time. About </a:t>
            </a:r>
            <a:r>
              <a:rPr lang="en-US" sz="1750">
                <a:latin typeface="Calibri"/>
                <a:ea typeface="Calibri"/>
                <a:cs typeface="Calibri"/>
                <a:sym typeface="Calibri"/>
              </a:rPr>
              <a:t>50% of more </a:t>
            </a:r>
            <a:r>
              <a:rPr lang="en-US" sz="1800">
                <a:latin typeface="Calibri"/>
                <a:ea typeface="Calibri"/>
                <a:cs typeface="Calibri"/>
                <a:sym typeface="Calibri"/>
              </a:rPr>
              <a:t>tickets within these categories have average close time much longer than NYC’s.</a:t>
            </a:r>
            <a:endParaRPr sz="1800">
              <a:latin typeface="Calibri"/>
              <a:ea typeface="Calibri"/>
              <a:cs typeface="Calibri"/>
              <a:sym typeface="Calibri"/>
            </a:endParaRPr>
          </a:p>
          <a:p>
            <a:pPr indent="-228600" lvl="0" marL="241300" marR="5080" rtl="0" algn="l">
              <a:lnSpc>
                <a:spcPct val="120000"/>
              </a:lnSpc>
              <a:spcBef>
                <a:spcPts val="1010"/>
              </a:spcBef>
              <a:spcAft>
                <a:spcPts val="0"/>
              </a:spcAft>
              <a:buClr>
                <a:srgbClr val="F3960F"/>
              </a:buClr>
              <a:buSzPts val="2000"/>
              <a:buFont typeface="Noto Sans Symbols"/>
              <a:buChar char="▪"/>
            </a:pPr>
            <a:r>
              <a:rPr lang="en-US" sz="1750">
                <a:latin typeface="Calibri"/>
                <a:ea typeface="Calibri"/>
                <a:cs typeface="Calibri"/>
                <a:sym typeface="Calibri"/>
              </a:rPr>
              <a:t>Allocate more resources to the North and the West region </a:t>
            </a:r>
            <a:r>
              <a:rPr lang="en-US" sz="1800">
                <a:latin typeface="Calibri"/>
                <a:ea typeface="Calibri"/>
                <a:cs typeface="Calibri"/>
                <a:sym typeface="Calibri"/>
              </a:rPr>
              <a:t>as they have among </a:t>
            </a:r>
            <a:r>
              <a:rPr lang="en-US" sz="1800" u="sng">
                <a:latin typeface="Calibri"/>
                <a:ea typeface="Calibri"/>
                <a:cs typeface="Calibri"/>
                <a:sym typeface="Calibri"/>
              </a:rPr>
              <a:t>the</a:t>
            </a:r>
            <a:r>
              <a:rPr lang="en-US" sz="1800">
                <a:latin typeface="Calibri"/>
                <a:ea typeface="Calibri"/>
                <a:cs typeface="Calibri"/>
                <a:sym typeface="Calibri"/>
              </a:rPr>
              <a:t> </a:t>
            </a:r>
            <a:r>
              <a:rPr lang="en-US" sz="1800" u="sng">
                <a:latin typeface="Calibri"/>
                <a:ea typeface="Calibri"/>
                <a:cs typeface="Calibri"/>
                <a:sym typeface="Calibri"/>
              </a:rPr>
              <a:t>longest close time</a:t>
            </a:r>
            <a:r>
              <a:rPr lang="en-US" sz="1800">
                <a:latin typeface="Calibri"/>
                <a:ea typeface="Calibri"/>
                <a:cs typeface="Calibri"/>
                <a:sym typeface="Calibri"/>
              </a:rPr>
              <a:t> in all 3 prioritized categories. Regardless, the close time in all regions are still </a:t>
            </a:r>
            <a:r>
              <a:rPr lang="en-US" sz="1800" u="sng">
                <a:latin typeface="Calibri"/>
                <a:ea typeface="Calibri"/>
                <a:cs typeface="Calibri"/>
                <a:sym typeface="Calibri"/>
              </a:rPr>
              <a:t>significantly higher</a:t>
            </a:r>
            <a:r>
              <a:rPr lang="en-US" sz="1800">
                <a:latin typeface="Calibri"/>
                <a:ea typeface="Calibri"/>
                <a:cs typeface="Calibri"/>
                <a:sym typeface="Calibri"/>
              </a:rPr>
              <a:t> than the standard.</a:t>
            </a:r>
            <a:endParaRPr sz="1800">
              <a:latin typeface="Calibri"/>
              <a:ea typeface="Calibri"/>
              <a:cs typeface="Calibri"/>
              <a:sym typeface="Calibri"/>
            </a:endParaRPr>
          </a:p>
          <a:p>
            <a:pPr indent="-228600" lvl="0" marL="241300" marR="55880" rtl="0" algn="l">
              <a:lnSpc>
                <a:spcPct val="120600"/>
              </a:lnSpc>
              <a:spcBef>
                <a:spcPts val="994"/>
              </a:spcBef>
              <a:spcAft>
                <a:spcPts val="0"/>
              </a:spcAft>
              <a:buClr>
                <a:srgbClr val="F3960F"/>
              </a:buClr>
              <a:buSzPts val="2000"/>
              <a:buFont typeface="Noto Sans Symbols"/>
              <a:buChar char="▪"/>
            </a:pPr>
            <a:r>
              <a:rPr lang="en-US" sz="1800">
                <a:latin typeface="Calibri"/>
                <a:ea typeface="Calibri"/>
                <a:cs typeface="Calibri"/>
                <a:sym typeface="Calibri"/>
              </a:rPr>
              <a:t>It would be helpful to </a:t>
            </a:r>
            <a:r>
              <a:rPr lang="en-US" sz="1750">
                <a:latin typeface="Calibri"/>
                <a:ea typeface="Calibri"/>
                <a:cs typeface="Calibri"/>
                <a:sym typeface="Calibri"/>
              </a:rPr>
              <a:t>understand what NYC is doing differently </a:t>
            </a:r>
            <a:r>
              <a:rPr lang="en-US" sz="1800">
                <a:latin typeface="Calibri"/>
                <a:ea typeface="Calibri"/>
                <a:cs typeface="Calibri"/>
                <a:sym typeface="Calibri"/>
              </a:rPr>
              <a:t>to resolve tickets in much shorter time, also to further </a:t>
            </a:r>
            <a:r>
              <a:rPr lang="en-US" sz="1750">
                <a:latin typeface="Calibri"/>
                <a:ea typeface="Calibri"/>
                <a:cs typeface="Calibri"/>
                <a:sym typeface="Calibri"/>
              </a:rPr>
              <a:t>investigate how a large portion of DSS tickets were closed faster </a:t>
            </a:r>
            <a:r>
              <a:rPr lang="en-US" sz="1800">
                <a:latin typeface="Calibri"/>
                <a:ea typeface="Calibri"/>
                <a:cs typeface="Calibri"/>
                <a:sym typeface="Calibri"/>
              </a:rPr>
              <a:t>than the average.</a:t>
            </a:r>
            <a:endParaRPr sz="1800">
              <a:latin typeface="Calibri"/>
              <a:ea typeface="Calibri"/>
              <a:cs typeface="Calibri"/>
              <a:sym typeface="Calibri"/>
            </a:endParaRPr>
          </a:p>
          <a:p>
            <a:pPr indent="-228600" lvl="0" marL="241300" marR="29845" rtl="0" algn="just">
              <a:lnSpc>
                <a:spcPct val="120600"/>
              </a:lnSpc>
              <a:spcBef>
                <a:spcPts val="994"/>
              </a:spcBef>
              <a:spcAft>
                <a:spcPts val="0"/>
              </a:spcAft>
              <a:buClr>
                <a:srgbClr val="F3960F"/>
              </a:buClr>
              <a:buSzPts val="2000"/>
              <a:buFont typeface="Noto Sans Symbols"/>
              <a:buChar char="▪"/>
            </a:pPr>
            <a:r>
              <a:rPr lang="en-US" sz="1800">
                <a:latin typeface="Calibri"/>
                <a:ea typeface="Calibri"/>
                <a:cs typeface="Calibri"/>
                <a:sym typeface="Calibri"/>
              </a:rPr>
              <a:t>Depending on the investigation, DSS should consider </a:t>
            </a:r>
            <a:r>
              <a:rPr lang="en-US" sz="1750">
                <a:latin typeface="Calibri"/>
                <a:ea typeface="Calibri"/>
                <a:cs typeface="Calibri"/>
                <a:sym typeface="Calibri"/>
              </a:rPr>
              <a:t>investing in better equipment, improving work efficiency, and balancing the number of staff </a:t>
            </a:r>
            <a:r>
              <a:rPr lang="en-US" sz="1800">
                <a:latin typeface="Calibri"/>
                <a:ea typeface="Calibri"/>
                <a:cs typeface="Calibri"/>
                <a:sym typeface="Calibri"/>
              </a:rPr>
              <a:t>in different locations to reduce the overall resolution time.</a:t>
            </a:r>
            <a:endParaRPr sz="18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1" name="Shape 221"/>
        <p:cNvGrpSpPr/>
        <p:nvPr/>
      </p:nvGrpSpPr>
      <p:grpSpPr>
        <a:xfrm>
          <a:off x="0" y="0"/>
          <a:ext cx="0" cy="0"/>
          <a:chOff x="0" y="0"/>
          <a:chExt cx="0" cy="0"/>
        </a:xfrm>
      </p:grpSpPr>
      <p:pic>
        <p:nvPicPr>
          <p:cNvPr id="222" name="Google Shape;222;p11"/>
          <p:cNvPicPr preferRelativeResize="0"/>
          <p:nvPr/>
        </p:nvPicPr>
        <p:blipFill rotWithShape="1">
          <a:blip r:embed="rId3">
            <a:alphaModFix/>
          </a:blip>
          <a:srcRect b="0" l="0" r="0" t="0"/>
          <a:stretch/>
        </p:blipFill>
        <p:spPr>
          <a:xfrm>
            <a:off x="-7410" y="-8266"/>
            <a:ext cx="12199411" cy="6872662"/>
          </a:xfrm>
          <a:prstGeom prst="rect">
            <a:avLst/>
          </a:prstGeom>
          <a:noFill/>
          <a:ln>
            <a:noFill/>
          </a:ln>
        </p:spPr>
      </p:pic>
      <p:sp>
        <p:nvSpPr>
          <p:cNvPr descr="$PPTXTitle" id="223" name="Google Shape;223;p11"/>
          <p:cNvSpPr txBox="1"/>
          <p:nvPr>
            <p:ph type="title"/>
          </p:nvPr>
        </p:nvSpPr>
        <p:spPr>
          <a:xfrm>
            <a:off x="1023619" y="913891"/>
            <a:ext cx="388620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ADDITIONAL REMARKS</a:t>
            </a:r>
            <a:endParaRPr sz="3600"/>
          </a:p>
        </p:txBody>
      </p:sp>
      <p:sp>
        <p:nvSpPr>
          <p:cNvPr id="224" name="Google Shape;224;p11"/>
          <p:cNvSpPr txBox="1"/>
          <p:nvPr/>
        </p:nvSpPr>
        <p:spPr>
          <a:xfrm>
            <a:off x="886461" y="3017012"/>
            <a:ext cx="10123805" cy="1802764"/>
          </a:xfrm>
          <a:prstGeom prst="rect">
            <a:avLst/>
          </a:prstGeom>
          <a:noFill/>
          <a:ln>
            <a:noFill/>
          </a:ln>
        </p:spPr>
        <p:txBody>
          <a:bodyPr anchorCtr="0" anchor="t" bIns="0" lIns="0" spcFirstLastPara="1" rIns="0" wrap="square" tIns="10775">
            <a:spAutoFit/>
          </a:bodyPr>
          <a:lstStyle/>
          <a:p>
            <a:pPr indent="-228600" lvl="0" marL="241300" marR="56515" rtl="0" algn="l">
              <a:lnSpc>
                <a:spcPct val="120600"/>
              </a:lnSpc>
              <a:spcBef>
                <a:spcPts val="0"/>
              </a:spcBef>
              <a:spcAft>
                <a:spcPts val="0"/>
              </a:spcAft>
              <a:buClr>
                <a:srgbClr val="F3960F"/>
              </a:buClr>
              <a:buSzPts val="2000"/>
              <a:buFont typeface="Noto Sans Symbols"/>
              <a:buChar char="▪"/>
            </a:pPr>
            <a:r>
              <a:rPr lang="en-US" sz="1800">
                <a:solidFill>
                  <a:srgbClr val="FFFFFF"/>
                </a:solidFill>
                <a:latin typeface="Calibri"/>
                <a:ea typeface="Calibri"/>
                <a:cs typeface="Calibri"/>
                <a:sym typeface="Calibri"/>
              </a:rPr>
              <a:t>Find more relevant data that might explain the longer time to close in certain regions and community areas such as number of trees, size of trees, number of DSS offices or employees covering the area, number of garbage carts, agency’s budget, etc.</a:t>
            </a:r>
            <a:endParaRPr sz="1800">
              <a:latin typeface="Calibri"/>
              <a:ea typeface="Calibri"/>
              <a:cs typeface="Calibri"/>
              <a:sym typeface="Calibri"/>
            </a:endParaRPr>
          </a:p>
          <a:p>
            <a:pPr indent="-228600" lvl="0" marL="241300" marR="5080" rtl="0" algn="l">
              <a:lnSpc>
                <a:spcPct val="120000"/>
              </a:lnSpc>
              <a:spcBef>
                <a:spcPts val="1010"/>
              </a:spcBef>
              <a:spcAft>
                <a:spcPts val="0"/>
              </a:spcAft>
              <a:buClr>
                <a:srgbClr val="F3960F"/>
              </a:buClr>
              <a:buSzPts val="2000"/>
              <a:buFont typeface="Noto Sans Symbols"/>
              <a:buChar char="▪"/>
            </a:pPr>
            <a:r>
              <a:rPr lang="en-US" sz="1800">
                <a:solidFill>
                  <a:srgbClr val="FFFFFF"/>
                </a:solidFill>
                <a:latin typeface="Calibri"/>
                <a:ea typeface="Calibri"/>
                <a:cs typeface="Calibri"/>
                <a:sym typeface="Calibri"/>
              </a:rPr>
              <a:t>Identify frequency patterns in month or days of the week for the 3 focused categories to help DSS plan their resources for the whole year.</a:t>
            </a:r>
            <a:endParaRPr sz="1800">
              <a:latin typeface="Calibri"/>
              <a:ea typeface="Calibri"/>
              <a:cs typeface="Calibri"/>
              <a:sym typeface="Calibri"/>
            </a:endParaRPr>
          </a:p>
        </p:txBody>
      </p:sp>
      <p:pic>
        <p:nvPicPr>
          <p:cNvPr id="225" name="Google Shape;225;p11"/>
          <p:cNvPicPr preferRelativeResize="0"/>
          <p:nvPr/>
        </p:nvPicPr>
        <p:blipFill rotWithShape="1">
          <a:blip r:embed="rId4">
            <a:alphaModFix/>
          </a:blip>
          <a:srcRect b="0" l="0" r="0" t="0"/>
          <a:stretch/>
        </p:blipFill>
        <p:spPr>
          <a:xfrm>
            <a:off x="0" y="6095"/>
            <a:ext cx="12188952" cy="68519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2026-09-22T00:27:06Z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2024-02-14T00:00:00Z</vt:filetime>
  </property>
  <property fmtid="{D5CDD505-2E9C-101B-9397-08002B2CF9AE}" pid="4" name="LastSaved">
    <vt:filetime>2026-09-22T00:00:00Z</vt:filetime>
  </property>
  <property fmtid="{D5CDD505-2E9C-101B-9397-08002B2CF9AE}" pid="5" name="Producer">
    <vt:lpwstr>macOS Version 13.4.1 (c) (Build 22F770820d) Quartz PDFContext</vt:lpwstr>
  </property>
</Properties>
</file>